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60" r:id="rId2"/>
    <p:sldId id="263" r:id="rId3"/>
    <p:sldId id="264" r:id="rId4"/>
    <p:sldId id="265" r:id="rId5"/>
    <p:sldId id="266" r:id="rId6"/>
    <p:sldId id="280" r:id="rId7"/>
    <p:sldId id="279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locci, Rachel G." initials="VRG" lastIdx="39" clrIdx="0">
    <p:extLst>
      <p:ext uri="{19B8F6BF-5375-455C-9EA6-DF929625EA0E}">
        <p15:presenceInfo xmlns:p15="http://schemas.microsoft.com/office/powerpoint/2012/main" userId="S::rachel.velocci@stonybrookmedicine.edu::bf13c323-25ec-4d9d-8cd7-3e21e47969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A71E23"/>
    <a:srgbClr val="828383"/>
    <a:srgbClr val="359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/>
    <p:restoredTop sz="96327"/>
  </p:normalViewPr>
  <p:slideViewPr>
    <p:cSldViewPr snapToObjects="1">
      <p:cViewPr varScale="1">
        <p:scale>
          <a:sx n="168" d="100"/>
          <a:sy n="168" d="100"/>
        </p:scale>
        <p:origin x="536" y="192"/>
      </p:cViewPr>
      <p:guideLst/>
    </p:cSldViewPr>
  </p:slideViewPr>
  <p:outlineViewPr>
    <p:cViewPr>
      <p:scale>
        <a:sx n="33" d="100"/>
        <a:sy n="33" d="100"/>
      </p:scale>
      <p:origin x="0" y="-209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 showGuide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Verdana" panose="020B060403050404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6CF33-8FBF-4B4C-A62C-C7FCEE2F205E}" type="datetimeFigureOut">
              <a:rPr lang="en-US" smtClean="0">
                <a:latin typeface="Verdana" panose="020B0604030504040204" pitchFamily="34" charset="0"/>
              </a:rPr>
              <a:t>4/16/25</a:t>
            </a:fld>
            <a:endParaRPr lang="en-US" dirty="0">
              <a:latin typeface="Verdana" panose="020B060403050404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Verdana" panose="020B060403050404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B81D4-C81F-2846-A8B2-30C4B23FE648}" type="slidenum">
              <a:rPr lang="en-US" smtClean="0">
                <a:latin typeface="Verdana" panose="020B0604030504040204" pitchFamily="34" charset="0"/>
              </a:rPr>
              <a:t>‹#›</a:t>
            </a:fld>
            <a:endParaRPr lang="en-US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69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68D938DB-7AC2-8B49-96CB-F4713922A74B}" type="datetimeFigureOut">
              <a:rPr lang="en-US" smtClean="0"/>
              <a:pPr/>
              <a:t>4/16/25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06818A80-324C-A94A-A288-E8B5ECC906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5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BM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6532284" y="4818882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5F4044-894B-B74C-BA70-A76DFBF02618}" type="slidenum">
              <a:rPr lang="en-US" sz="750" smtClean="0">
                <a:solidFill>
                  <a:schemeClr val="bg1"/>
                </a:solidFill>
              </a:rPr>
              <a:pPr/>
              <a:t>‹#›</a:t>
            </a:fld>
            <a:endParaRPr lang="en-US" sz="75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28653" y="4680900"/>
            <a:ext cx="7890681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C8E2DBF-D479-C438-02E8-8BDF5A575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8600" y="2266950"/>
            <a:ext cx="3606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BM Title Slide-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23A6DA-40CF-A3EC-13F3-D882499C115E}"/>
              </a:ext>
            </a:extLst>
          </p:cNvPr>
          <p:cNvSpPr/>
          <p:nvPr userDrawn="1"/>
        </p:nvSpPr>
        <p:spPr>
          <a:xfrm>
            <a:off x="0" y="0"/>
            <a:ext cx="9220200" cy="2655699"/>
          </a:xfrm>
          <a:prstGeom prst="rect">
            <a:avLst/>
          </a:prstGeom>
          <a:gradFill>
            <a:gsLst>
              <a:gs pos="0">
                <a:schemeClr val="accent3">
                  <a:lumMod val="99364"/>
                  <a:lumOff val="636"/>
                </a:schemeClr>
              </a:gs>
              <a:gs pos="50000">
                <a:srgbClr val="C0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Verdana" panose="020B060403050404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434EB9-5D6E-2D4B-A3A4-A19A095CA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4986" y="819150"/>
            <a:ext cx="7501814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700"/>
              </a:lnSpc>
              <a:defRPr sz="2800" b="1" spc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AMS 597 Group Project Presentation</a:t>
            </a:r>
          </a:p>
          <a:p>
            <a:pPr lvl="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0409C6-894C-F641-AA99-CF8ABEC480D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19199" y="2876550"/>
            <a:ext cx="7467601" cy="140003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Aft>
                <a:spcPts val="300"/>
              </a:spcAft>
              <a:defRPr sz="1600" b="1" i="0" spc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tabLst/>
              <a:defRPr sz="1400" b="0" i="0">
                <a:solidFill>
                  <a:schemeClr val="tx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1"/>
            <a:endParaRPr lang="en-US" dirty="0"/>
          </a:p>
          <a:p>
            <a:pPr lvl="1"/>
            <a:r>
              <a:rPr lang="en-US" dirty="0" err="1"/>
              <a:t>Junsung</a:t>
            </a:r>
            <a:r>
              <a:rPr lang="en-US" dirty="0"/>
              <a:t> Rhee        </a:t>
            </a:r>
            <a:r>
              <a:rPr lang="ko-KR" altLang="en-US" dirty="0"/>
              <a:t>    </a:t>
            </a:r>
            <a:r>
              <a:rPr lang="en-US" dirty="0"/>
              <a:t>116740814</a:t>
            </a:r>
          </a:p>
          <a:p>
            <a:pPr lvl="1"/>
            <a:r>
              <a:rPr lang="en-US" dirty="0"/>
              <a:t>Keun Young Yoon     </a:t>
            </a:r>
            <a:r>
              <a:rPr lang="en-US" altLang="ko-KR" dirty="0"/>
              <a:t>1</a:t>
            </a:r>
            <a:r>
              <a:rPr lang="en-US" dirty="0"/>
              <a:t>16517818</a:t>
            </a:r>
          </a:p>
          <a:p>
            <a:pPr lvl="1"/>
            <a:r>
              <a:rPr lang="en-US" dirty="0"/>
              <a:t>Dhananjay Sharma   116740841</a:t>
            </a:r>
          </a:p>
          <a:p>
            <a:pPr lvl="1"/>
            <a:r>
              <a:rPr lang="en-US" dirty="0"/>
              <a:t>Parth </a:t>
            </a:r>
            <a:r>
              <a:rPr lang="en-US" dirty="0" err="1"/>
              <a:t>Pidadi</a:t>
            </a:r>
            <a:r>
              <a:rPr lang="en-US" dirty="0"/>
              <a:t>        </a:t>
            </a:r>
            <a:r>
              <a:rPr lang="ko-KR" altLang="en-US" dirty="0"/>
              <a:t>       </a:t>
            </a:r>
            <a:r>
              <a:rPr lang="en-US" dirty="0"/>
              <a:t>116237374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AF4620-459A-1F60-34A1-762D0C3776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199" y="4443958"/>
            <a:ext cx="2448272" cy="41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90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BM Title Slide-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C2D2B9-E210-DCAF-BC33-3C403D944442}"/>
              </a:ext>
            </a:extLst>
          </p:cNvPr>
          <p:cNvSpPr/>
          <p:nvPr userDrawn="1"/>
        </p:nvSpPr>
        <p:spPr>
          <a:xfrm>
            <a:off x="0" y="51470"/>
            <a:ext cx="9144000" cy="2655699"/>
          </a:xfrm>
          <a:prstGeom prst="rect">
            <a:avLst/>
          </a:prstGeom>
          <a:gradFill>
            <a:gsLst>
              <a:gs pos="0">
                <a:schemeClr val="accent3"/>
              </a:gs>
              <a:gs pos="50000">
                <a:srgbClr val="C0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Verdana" panose="020B060403050404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434EB9-5D6E-2D4B-A3A4-A19A095CA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779960"/>
            <a:ext cx="7252044" cy="142338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700"/>
              </a:lnSpc>
              <a:defRPr sz="3600" b="1" spc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Healthcare Data Analysis Using MEPS 2020</a:t>
            </a:r>
          </a:p>
          <a:p>
            <a:pPr lvl="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0409C6-894C-F641-AA99-CF8ABEC480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8843" y="2800350"/>
            <a:ext cx="4101757" cy="109958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Aft>
                <a:spcPts val="300"/>
              </a:spcAft>
              <a:defRPr sz="1600" b="1" i="0" spc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tabLst/>
              <a:defRPr sz="1400" b="0" i="0">
                <a:solidFill>
                  <a:schemeClr val="tx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AMS 597 Statistical Computing</a:t>
            </a:r>
          </a:p>
          <a:p>
            <a:pPr lvl="1"/>
            <a:r>
              <a:rPr lang="en-US" dirty="0"/>
              <a:t>Instructor: Dr. Silvia Sharna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A46A5F-DB71-0140-B1FA-A9800D8A0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53001" y="2809606"/>
            <a:ext cx="4038600" cy="109958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Aft>
                <a:spcPts val="300"/>
              </a:spcAft>
              <a:defRPr sz="1600" b="1" i="0" spc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tabLst/>
              <a:defRPr sz="1400" b="0" i="0">
                <a:solidFill>
                  <a:schemeClr val="tx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Group 5</a:t>
            </a:r>
          </a:p>
          <a:p>
            <a:pPr lvl="1"/>
            <a:r>
              <a:rPr lang="en-US" dirty="0" err="1"/>
              <a:t>Junsung</a:t>
            </a:r>
            <a:r>
              <a:rPr lang="en-US" dirty="0"/>
              <a:t> Rhee        </a:t>
            </a:r>
            <a:r>
              <a:rPr lang="ko-KR" altLang="en-US" dirty="0"/>
              <a:t>    </a:t>
            </a:r>
            <a:r>
              <a:rPr lang="en-US" dirty="0"/>
              <a:t>116740814</a:t>
            </a:r>
          </a:p>
          <a:p>
            <a:pPr lvl="1"/>
            <a:r>
              <a:rPr lang="en-US" dirty="0"/>
              <a:t>Keun Young Yoon     </a:t>
            </a:r>
            <a:r>
              <a:rPr lang="en-US" altLang="ko-KR" dirty="0"/>
              <a:t>1</a:t>
            </a:r>
            <a:r>
              <a:rPr lang="en-US" dirty="0"/>
              <a:t>16517818</a:t>
            </a:r>
          </a:p>
          <a:p>
            <a:pPr lvl="1"/>
            <a:r>
              <a:rPr lang="en-US" dirty="0"/>
              <a:t>Dhananjay Sharma   116740841</a:t>
            </a:r>
          </a:p>
          <a:p>
            <a:pPr lvl="1"/>
            <a:r>
              <a:rPr lang="en-US" dirty="0"/>
              <a:t>Parth </a:t>
            </a:r>
            <a:r>
              <a:rPr lang="en-US" dirty="0" err="1"/>
              <a:t>Pidadi</a:t>
            </a:r>
            <a:r>
              <a:rPr lang="en-US" dirty="0"/>
              <a:t>        </a:t>
            </a:r>
            <a:r>
              <a:rPr lang="ko-KR" altLang="en-US" dirty="0"/>
              <a:t>       </a:t>
            </a:r>
            <a:r>
              <a:rPr lang="en-US" dirty="0"/>
              <a:t>116237374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C5B581-EF19-26EE-5CB8-92A56AA06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842" y="4383867"/>
            <a:ext cx="2505005" cy="42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1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egory Slide - ALL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A8F829-9C19-2DF3-ECFE-70E6403D18B5}"/>
              </a:ext>
            </a:extLst>
          </p:cNvPr>
          <p:cNvSpPr/>
          <p:nvPr userDrawn="1"/>
        </p:nvSpPr>
        <p:spPr>
          <a:xfrm>
            <a:off x="0" y="-3008"/>
            <a:ext cx="9144000" cy="5143500"/>
          </a:xfrm>
          <a:prstGeom prst="rect">
            <a:avLst/>
          </a:prstGeom>
          <a:gradFill>
            <a:gsLst>
              <a:gs pos="0">
                <a:srgbClr val="980000"/>
              </a:gs>
              <a:gs pos="50000">
                <a:srgbClr val="C0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Verdana" panose="020B060403050404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434EB9-5D6E-2D4B-A3A4-A19A095CA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9200" y="0"/>
            <a:ext cx="6934200" cy="48577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>
              <a:lnSpc>
                <a:spcPts val="4000"/>
              </a:lnSpc>
              <a:defRPr sz="4000" b="1" spc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THIS IS A TOPIC / </a:t>
            </a:r>
            <a:br>
              <a:rPr lang="en-US" dirty="0"/>
            </a:br>
            <a:r>
              <a:rPr lang="en-US" dirty="0"/>
              <a:t>CATEGORY SLIDE. TYPE IN ALL CAPS, VERDANA BOLD, 40 POINT SIZE.</a:t>
            </a:r>
          </a:p>
        </p:txBody>
      </p:sp>
    </p:spTree>
    <p:extLst>
      <p:ext uri="{BB962C8B-B14F-4D97-AF65-F5344CB8AC3E}">
        <p14:creationId xmlns:p14="http://schemas.microsoft.com/office/powerpoint/2010/main" val="59496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Slide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70"/>
            <a:ext cx="228600" cy="273844"/>
          </a:xfrm>
          <a:prstGeom prst="rect">
            <a:avLst/>
          </a:prstGeom>
        </p:spPr>
        <p:txBody>
          <a:bodyPr anchor="ctr"/>
          <a:lstStyle>
            <a:lvl1pPr algn="r">
              <a:defRPr sz="10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BB73-179B-9B4D-8CFD-64CC9764006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200400" y="4677435"/>
            <a:ext cx="5486400" cy="273844"/>
          </a:xfrm>
        </p:spPr>
        <p:txBody>
          <a:bodyPr/>
          <a:lstStyle>
            <a:lvl1pPr>
              <a:defRPr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Group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86573-5183-964F-94B7-7C8705909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5800" y="141872"/>
            <a:ext cx="8305800" cy="677278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2pPr>
            <a:lvl3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3pPr>
            <a:lvl4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4pPr>
            <a:lvl5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5pPr>
          </a:lstStyle>
          <a:p>
            <a:pPr lvl="0"/>
            <a:r>
              <a:rPr lang="en-US" dirty="0"/>
              <a:t>2-Line Headline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B7CBC9-11CF-F349-AEFE-5D1A13537F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1123950"/>
            <a:ext cx="7543800" cy="274320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1600" b="1" i="0"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tabLst/>
              <a:defRPr sz="1800" b="0" i="0">
                <a:solidFill>
                  <a:schemeClr val="tx1"/>
                </a:solidFill>
                <a:latin typeface="Effra Light" panose="020B0403020203020204" pitchFamily="34" charset="0"/>
              </a:defRPr>
            </a:lvl2pPr>
            <a:lvl3pPr marL="6350" indent="-6350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>
                <a:solidFill>
                  <a:schemeClr val="tx1"/>
                </a:solidFill>
                <a:latin typeface="Effra Medium" panose="020B0603020203020204" pitchFamily="34" charset="0"/>
              </a:defRPr>
            </a:lvl3pPr>
            <a:lvl4pPr marL="6350" indent="-6350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>
                <a:solidFill>
                  <a:schemeClr val="tx1"/>
                </a:solidFill>
                <a:latin typeface="Effra Medium" panose="020B0603020203020204" pitchFamily="34" charset="0"/>
              </a:defRPr>
            </a:lvl4pPr>
            <a:lvl5pPr marL="6350" indent="-6350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>
                <a:solidFill>
                  <a:schemeClr val="tx1"/>
                </a:solidFill>
                <a:latin typeface="Effra Medium" panose="020B0603020203020204" pitchFamily="34" charset="0"/>
              </a:defRPr>
            </a:lvl5pPr>
          </a:lstStyle>
          <a:p>
            <a:pPr lvl="0"/>
            <a:r>
              <a:rPr lang="en-US" dirty="0"/>
              <a:t>Center or flush left red text here. </a:t>
            </a:r>
          </a:p>
          <a:p>
            <a:pPr lvl="0"/>
            <a:r>
              <a:rPr lang="en-US" dirty="0"/>
              <a:t>Use ”Shift return” within paragraph, </a:t>
            </a:r>
            <a:br>
              <a:rPr lang="en-US" dirty="0"/>
            </a:br>
            <a:r>
              <a:rPr lang="en-US" dirty="0"/>
              <a:t>“return” to make paragraph two.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4484A675-B9D3-A942-944A-A66AEAA9A27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377400" y="1428300"/>
            <a:ext cx="2359025" cy="1194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/>
            </a:lvl2pPr>
            <a:lvl3pPr marL="114300" indent="-107950">
              <a:tabLst/>
              <a:defRPr/>
            </a:lvl3pPr>
            <a:lvl4pPr marL="114300" indent="-107950">
              <a:tabLst/>
              <a:defRPr/>
            </a:lvl4pPr>
            <a:lvl5pPr marL="114300" indent="-107950">
              <a:tabLst/>
              <a:defRPr/>
            </a:lvl5pPr>
          </a:lstStyle>
          <a:p>
            <a:pPr lvl="0"/>
            <a:r>
              <a:rPr lang="en-US" dirty="0"/>
              <a:t>Place Image Here</a:t>
            </a: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9706A5BD-A9A7-2340-B208-717796CE2EC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77400" y="2685600"/>
            <a:ext cx="2359025" cy="17384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/>
            </a:lvl2pPr>
            <a:lvl3pPr marL="114300" indent="-107950">
              <a:tabLst/>
              <a:defRPr/>
            </a:lvl3pPr>
            <a:lvl4pPr marL="114300" indent="-107950">
              <a:tabLst/>
              <a:defRPr/>
            </a:lvl4pPr>
            <a:lvl5pPr marL="114300" indent="-107950">
              <a:tabLst/>
              <a:defRPr/>
            </a:lvl5pPr>
          </a:lstStyle>
          <a:p>
            <a:pPr lvl="0"/>
            <a:r>
              <a:rPr lang="en-US" dirty="0"/>
              <a:t>Place Image Here</a:t>
            </a:r>
          </a:p>
        </p:txBody>
      </p:sp>
    </p:spTree>
    <p:extLst>
      <p:ext uri="{BB962C8B-B14F-4D97-AF65-F5344CB8AC3E}">
        <p14:creationId xmlns:p14="http://schemas.microsoft.com/office/powerpoint/2010/main" val="694690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70"/>
            <a:ext cx="228600" cy="273844"/>
          </a:xfrm>
          <a:prstGeom prst="rect">
            <a:avLst/>
          </a:prstGeom>
        </p:spPr>
        <p:txBody>
          <a:bodyPr anchor="ctr"/>
          <a:lstStyle>
            <a:lvl1pPr algn="r">
              <a:defRPr sz="10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BB73-179B-9B4D-8CFD-64CC9764006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200400" y="4683570"/>
            <a:ext cx="5486400" cy="273844"/>
          </a:xfrm>
        </p:spPr>
        <p:txBody>
          <a:bodyPr/>
          <a:lstStyle>
            <a:lvl1pPr>
              <a:defRPr sz="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Group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86573-5183-964F-94B7-7C8705909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5800" y="134123"/>
            <a:ext cx="8305800" cy="685027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2pPr>
            <a:lvl3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3pPr>
            <a:lvl4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4pPr>
            <a:lvl5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5pPr>
          </a:lstStyle>
          <a:p>
            <a:pPr lvl="0"/>
            <a:r>
              <a:rPr lang="en-US" dirty="0"/>
              <a:t>2-Line Headline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B7CBC9-11CF-F349-AEFE-5D1A13537F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5800" y="1053239"/>
            <a:ext cx="8001000" cy="3042511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2000" b="1" i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tabLst/>
              <a:defRPr sz="1800" b="0" i="0">
                <a:solidFill>
                  <a:schemeClr val="tx1"/>
                </a:solidFill>
                <a:latin typeface="Effra Light" panose="020B0403020203020204" pitchFamily="34" charset="0"/>
              </a:defRPr>
            </a:lvl2pPr>
            <a:lvl3pPr marL="6350" indent="-6350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>
                <a:solidFill>
                  <a:schemeClr val="tx1"/>
                </a:solidFill>
                <a:latin typeface="Effra Medium" panose="020B0603020203020204" pitchFamily="34" charset="0"/>
              </a:defRPr>
            </a:lvl3pPr>
            <a:lvl4pPr marL="6350" indent="-6350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>
                <a:solidFill>
                  <a:schemeClr val="tx1"/>
                </a:solidFill>
                <a:latin typeface="Effra Medium" panose="020B0603020203020204" pitchFamily="34" charset="0"/>
              </a:defRPr>
            </a:lvl4pPr>
            <a:lvl5pPr marL="6350" indent="-6350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>
                <a:solidFill>
                  <a:schemeClr val="tx1"/>
                </a:solidFill>
                <a:latin typeface="Effra Medium" panose="020B0603020203020204" pitchFamily="34" charset="0"/>
              </a:defRPr>
            </a:lvl5pPr>
          </a:lstStyle>
          <a:p>
            <a:pPr lvl="0"/>
            <a:r>
              <a:rPr lang="en-US" dirty="0"/>
              <a:t>Center red text here. </a:t>
            </a:r>
          </a:p>
          <a:p>
            <a:pPr lvl="0"/>
            <a:r>
              <a:rPr lang="en-US" dirty="0"/>
              <a:t>Choose a point size.</a:t>
            </a: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9706A5BD-A9A7-2340-B208-717796CE2EC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220200" y="27640"/>
            <a:ext cx="2282825" cy="483010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/>
            </a:lvl2pPr>
            <a:lvl3pPr marL="114300" indent="-107950">
              <a:tabLst/>
              <a:defRPr/>
            </a:lvl3pPr>
            <a:lvl4pPr marL="114300" indent="-107950">
              <a:tabLst/>
              <a:defRPr/>
            </a:lvl4pPr>
            <a:lvl5pPr marL="114300" indent="-107950">
              <a:tabLst/>
              <a:defRPr/>
            </a:lvl5pPr>
          </a:lstStyle>
          <a:p>
            <a:pPr lvl="0"/>
            <a:r>
              <a:rPr lang="en-US" dirty="0"/>
              <a:t>Place Image Here</a:t>
            </a:r>
          </a:p>
        </p:txBody>
      </p:sp>
    </p:spTree>
    <p:extLst>
      <p:ext uri="{BB962C8B-B14F-4D97-AF65-F5344CB8AC3E}">
        <p14:creationId xmlns:p14="http://schemas.microsoft.com/office/powerpoint/2010/main" val="1503391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Verdana Reg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70"/>
            <a:ext cx="228600" cy="273844"/>
          </a:xfrm>
          <a:prstGeom prst="rect">
            <a:avLst/>
          </a:prstGeom>
        </p:spPr>
        <p:txBody>
          <a:bodyPr anchor="ctr"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BB73-179B-9B4D-8CFD-64CC9764006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200400" y="4667148"/>
            <a:ext cx="54864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86573-5183-964F-94B7-7C8705909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5800" y="133350"/>
            <a:ext cx="8305800" cy="6858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2pPr>
            <a:lvl3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3pPr>
            <a:lvl4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4pPr>
            <a:lvl5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5pPr>
          </a:lstStyle>
          <a:p>
            <a:pPr lvl="0"/>
            <a:r>
              <a:rPr lang="en-US" dirty="0"/>
              <a:t>2-Line Headline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B7CBC9-11CF-F349-AEFE-5D1A13537F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5800" y="1047750"/>
            <a:ext cx="5867400" cy="31242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35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50" inden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tabLst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6350" indent="-635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tabLst/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7938" indent="0">
              <a:buFont typeface="Arial" panose="020B0604020202020204" pitchFamily="34" charset="0"/>
              <a:buChar char="•"/>
              <a:tabLst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</a:lstStyle>
          <a:p>
            <a:pPr lvl="0"/>
            <a:r>
              <a:rPr lang="en-US" dirty="0"/>
              <a:t>Text here. Use ”Shift return” within paragraph, “return” to make paragraph two.</a:t>
            </a:r>
          </a:p>
          <a:p>
            <a:pPr lvl="3"/>
            <a:r>
              <a:rPr lang="en-US" dirty="0"/>
              <a:t>Text here. </a:t>
            </a:r>
            <a:br>
              <a:rPr lang="en-US" dirty="0"/>
            </a:br>
            <a:r>
              <a:rPr lang="en-US" dirty="0"/>
              <a:t>Text here.</a:t>
            </a:r>
          </a:p>
          <a:p>
            <a:pPr lvl="3"/>
            <a:r>
              <a:rPr lang="en-US" dirty="0"/>
              <a:t>Text here. </a:t>
            </a:r>
          </a:p>
          <a:p>
            <a:pPr marL="6350" marR="0" lvl="2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6350" marR="0" lvl="2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0"/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5708B29-91D2-BC46-B413-1913A83DD4EF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629401" y="0"/>
            <a:ext cx="2362199" cy="2013563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>
                <a:solidFill>
                  <a:schemeClr val="bg1"/>
                </a:solidFill>
              </a:defRPr>
            </a:lvl2pPr>
            <a:lvl3pPr marL="114300" indent="-107950">
              <a:tabLst/>
              <a:defRPr>
                <a:solidFill>
                  <a:schemeClr val="bg1"/>
                </a:solidFill>
              </a:defRPr>
            </a:lvl3pPr>
            <a:lvl4pPr marL="114300" indent="-107950">
              <a:tabLst/>
              <a:defRPr>
                <a:solidFill>
                  <a:schemeClr val="bg1"/>
                </a:solidFill>
              </a:defRPr>
            </a:lvl4pPr>
            <a:lvl5pPr marL="114300" indent="-10795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Place Image Here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ECE980C4-375A-3243-A74A-C17C9690C47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629401" y="2114549"/>
            <a:ext cx="2359025" cy="302895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Place Image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4B406A6-2D52-7B48-8636-5EEDB575AB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5800" y="4248150"/>
            <a:ext cx="3425283" cy="175864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ct val="100000"/>
              </a:lnSpc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Credit line here 9 pt. or smaller</a:t>
            </a:r>
          </a:p>
        </p:txBody>
      </p:sp>
    </p:spTree>
    <p:extLst>
      <p:ext uri="{BB962C8B-B14F-4D97-AF65-F5344CB8AC3E}">
        <p14:creationId xmlns:p14="http://schemas.microsoft.com/office/powerpoint/2010/main" val="1329388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Subhead, Bulleted List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70"/>
            <a:ext cx="228600" cy="273844"/>
          </a:xfrm>
          <a:prstGeom prst="rect">
            <a:avLst/>
          </a:prstGeom>
        </p:spPr>
        <p:txBody>
          <a:bodyPr anchor="ctr"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BB73-179B-9B4D-8CFD-64CC9764006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200400" y="4667148"/>
            <a:ext cx="5486400" cy="273844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FCA555-B86A-BC43-B1B8-CD95C0338A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19200" y="4276998"/>
            <a:ext cx="7772400" cy="147016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lnSpc>
                <a:spcPct val="100000"/>
              </a:lnSpc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Credit line here 9 pt. or smaller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86573-5183-964F-94B7-7C8705909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5800" y="139293"/>
            <a:ext cx="8305800" cy="679857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2pPr>
            <a:lvl3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3pPr>
            <a:lvl4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4pPr>
            <a:lvl5pPr marL="7938" indent="0">
              <a:lnSpc>
                <a:spcPts val="3600"/>
              </a:lnSpc>
              <a:spcBef>
                <a:spcPts val="0"/>
              </a:spcBef>
              <a:buFontTx/>
              <a:buNone/>
              <a:tabLst/>
              <a:defRPr sz="3600" b="1"/>
            </a:lvl5pPr>
          </a:lstStyle>
          <a:p>
            <a:pPr lvl="0"/>
            <a:r>
              <a:rPr lang="en-US" dirty="0"/>
              <a:t>2-Line Headline Here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3EDB8184-FA24-BA4E-B34A-BC17070B0E1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543800" y="0"/>
            <a:ext cx="1447800" cy="270465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Place Image Here</a:t>
            </a:r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9CA48BC7-D3C5-494E-8B91-1788BF25BE8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543800" y="2800350"/>
            <a:ext cx="1447800" cy="16298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4300" indent="-107950">
              <a:tabLst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Place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D8A821-7DE7-0F4D-98F3-41126883D12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5800" y="1056134"/>
            <a:ext cx="6705600" cy="623827"/>
          </a:xfrm>
          <a:prstGeom prst="rect">
            <a:avLst/>
          </a:prstGeom>
        </p:spPr>
        <p:txBody>
          <a:bodyPr lIns="0" tIns="0" rIns="0" bIns="0"/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Tx/>
              <a:buNone/>
              <a:tabLst/>
              <a:defRPr sz="16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6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Tx/>
              <a:buNone/>
              <a:tabLst/>
              <a:defRPr sz="16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Tx/>
              <a:buNone/>
              <a:tabLst/>
              <a:defRPr sz="16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2"/>
            <a:r>
              <a:rPr lang="en-US" dirty="0"/>
              <a:t>Type subhead here. Use “Shift return” within paragraph. Use “Return” to make paragraph two.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BF31065-7A8E-1041-924C-C851DC2C593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5800" y="1809751"/>
            <a:ext cx="6705599" cy="2057400"/>
          </a:xfrm>
          <a:prstGeom prst="rect">
            <a:avLst/>
          </a:prstGeom>
        </p:spPr>
        <p:txBody>
          <a:bodyPr lIns="0" tIns="0" rIns="0" bIns="0"/>
          <a:lstStyle>
            <a:lvl1pPr marL="119063" indent="-119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4625" indent="-174625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4625" indent="-174625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90513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461963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Type bulleted list here</a:t>
            </a:r>
          </a:p>
          <a:p>
            <a:pPr lvl="3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9558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Head, 3 Photos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69"/>
            <a:ext cx="228600" cy="273843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1066800" y="1447800"/>
            <a:ext cx="1676400" cy="234315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anchor="t">
            <a:normAutofit/>
          </a:bodyPr>
          <a:lstStyle>
            <a:lvl1pPr marL="0" indent="0" algn="l">
              <a:buNone/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0408AA-895A-4746-9428-2BC81E28050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285066" y="4656666"/>
            <a:ext cx="5401733" cy="300747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474DFE-EB57-0D47-84BF-D368EB226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32203"/>
            <a:ext cx="8305800" cy="6869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0FC2D00-2063-3C4A-BD65-4F9CB7698E37}"/>
              </a:ext>
            </a:extLst>
          </p:cNvPr>
          <p:cNvSpPr>
            <a:spLocks noGrp="1"/>
          </p:cNvSpPr>
          <p:nvPr>
            <p:ph type="pic" idx="26" hasCustomPrompt="1"/>
          </p:nvPr>
        </p:nvSpPr>
        <p:spPr>
          <a:xfrm>
            <a:off x="3848100" y="1447800"/>
            <a:ext cx="1676401" cy="234315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anchor="t">
            <a:normAutofit/>
          </a:bodyPr>
          <a:lstStyle>
            <a:lvl1pPr marL="0" indent="0" algn="l">
              <a:buNone/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21382B-2E59-934A-A502-8E6EA6341BD3}"/>
              </a:ext>
            </a:extLst>
          </p:cNvPr>
          <p:cNvSpPr>
            <a:spLocks noGrp="1"/>
          </p:cNvSpPr>
          <p:nvPr>
            <p:ph type="pic" idx="27" hasCustomPrompt="1"/>
          </p:nvPr>
        </p:nvSpPr>
        <p:spPr>
          <a:xfrm>
            <a:off x="6553199" y="1447800"/>
            <a:ext cx="1719742" cy="234315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anchor="t">
            <a:normAutofit/>
          </a:bodyPr>
          <a:lstStyle>
            <a:lvl1pPr marL="0" indent="0" algn="l">
              <a:buNone/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1E241E-7371-7040-B4AB-8D70B191F5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5800" y="3886200"/>
            <a:ext cx="2514600" cy="457200"/>
          </a:xfrm>
          <a:prstGeom prst="rect">
            <a:avLst/>
          </a:prstGeom>
        </p:spPr>
        <p:txBody>
          <a:bodyPr/>
          <a:lstStyle>
            <a:lvl1pPr marL="0" algn="ctr">
              <a:lnSpc>
                <a:spcPct val="90000"/>
              </a:lnSpc>
              <a:spcBef>
                <a:spcPts val="450"/>
              </a:spcBef>
              <a:defRPr sz="1200" b="1" i="0"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algn="ctr">
              <a:lnSpc>
                <a:spcPct val="90000"/>
              </a:lnSpc>
              <a:spcBef>
                <a:spcPts val="300"/>
              </a:spcBef>
              <a:defRPr sz="900" b="0" i="0"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Type Name Here</a:t>
            </a:r>
          </a:p>
          <a:p>
            <a:pPr lvl="1"/>
            <a:r>
              <a:rPr lang="en-US" dirty="0"/>
              <a:t>Title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56B997F-6A58-7A40-9DB1-1422EB8AE7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01" y="3886200"/>
            <a:ext cx="2514599" cy="457200"/>
          </a:xfrm>
          <a:prstGeom prst="rect">
            <a:avLst/>
          </a:prstGeom>
        </p:spPr>
        <p:txBody>
          <a:bodyPr/>
          <a:lstStyle>
            <a:lvl1pPr marL="0" algn="ctr">
              <a:lnSpc>
                <a:spcPct val="90000"/>
              </a:lnSpc>
              <a:spcBef>
                <a:spcPts val="450"/>
              </a:spcBef>
              <a:defRPr sz="1200" b="1" i="0"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algn="ctr">
              <a:lnSpc>
                <a:spcPct val="90000"/>
              </a:lnSpc>
              <a:spcBef>
                <a:spcPts val="300"/>
              </a:spcBef>
              <a:defRPr sz="900" b="0" i="0"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Type Name Here</a:t>
            </a:r>
          </a:p>
          <a:p>
            <a:pPr lvl="1"/>
            <a:r>
              <a:rPr lang="en-US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36308A8-64DE-E94D-BBD3-AEAB0685DFE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2200" y="3886200"/>
            <a:ext cx="2514599" cy="457200"/>
          </a:xfrm>
          <a:prstGeom prst="rect">
            <a:avLst/>
          </a:prstGeom>
        </p:spPr>
        <p:txBody>
          <a:bodyPr/>
          <a:lstStyle>
            <a:lvl1pPr marL="0" algn="ctr">
              <a:lnSpc>
                <a:spcPct val="90000"/>
              </a:lnSpc>
              <a:spcBef>
                <a:spcPts val="450"/>
              </a:spcBef>
              <a:defRPr sz="1200" b="1" i="0"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algn="ctr">
              <a:lnSpc>
                <a:spcPct val="90000"/>
              </a:lnSpc>
              <a:spcBef>
                <a:spcPts val="300"/>
              </a:spcBef>
              <a:defRPr sz="900" b="0" i="0"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Type Name Here</a:t>
            </a:r>
          </a:p>
          <a:p>
            <a:pPr lvl="1"/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45285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Head, Color block, 2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BFDDFD-BE8F-084F-B081-F706687C7E63}"/>
              </a:ext>
            </a:extLst>
          </p:cNvPr>
          <p:cNvSpPr/>
          <p:nvPr userDrawn="1"/>
        </p:nvSpPr>
        <p:spPr>
          <a:xfrm>
            <a:off x="1600200" y="257177"/>
            <a:ext cx="7200900" cy="4117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350" b="0" i="0" dirty="0">
                <a:latin typeface="Verdana" panose="020B0604030504040204" pitchFamily="34" charset="0"/>
              </a:rPr>
              <a:t>‘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68932"/>
            <a:ext cx="228600" cy="288482"/>
          </a:xfrm>
          <a:prstGeom prst="rect">
            <a:avLst/>
          </a:prstGeom>
        </p:spPr>
        <p:txBody>
          <a:bodyPr anchor="ctr"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1" y="1744456"/>
            <a:ext cx="3733800" cy="24379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="0" i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quam, </a:t>
            </a:r>
            <a:r>
              <a:rPr lang="en-US" dirty="0" err="1"/>
              <a:t>pulvinar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vitae,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dui. </a:t>
            </a:r>
            <a:r>
              <a:rPr lang="en-US" dirty="0" err="1"/>
              <a:t>Phasellus</a:t>
            </a:r>
            <a:r>
              <a:rPr lang="en-US" dirty="0"/>
              <a:t> maximus id </a:t>
            </a:r>
            <a:r>
              <a:rPr lang="en-US" dirty="0" err="1"/>
              <a:t>neque</a:t>
            </a:r>
            <a:r>
              <a:rPr lang="en-US" dirty="0"/>
              <a:t> et convallis.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Ut</a:t>
            </a:r>
            <a:r>
              <a:rPr lang="en-US" dirty="0"/>
              <a:t> at mi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magna, et </a:t>
            </a:r>
            <a:r>
              <a:rPr lang="en-US" dirty="0" err="1"/>
              <a:t>alqiquam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tempus sed.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ac nisi ac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laet</a:t>
            </a:r>
            <a:r>
              <a:rPr lang="en-US" dirty="0"/>
              <a:t> vel, porta </a:t>
            </a:r>
            <a:r>
              <a:rPr lang="en-US" dirty="0" err="1"/>
              <a:t>eget</a:t>
            </a:r>
            <a:r>
              <a:rPr lang="en-US" dirty="0"/>
              <a:t> ipsum. </a:t>
            </a:r>
          </a:p>
          <a:p>
            <a:pPr lvl="0"/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627516-0D1A-BB4C-8EB2-DA68D60543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293532" y="4648200"/>
            <a:ext cx="5393267" cy="309214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5D73719-7201-3745-82C6-AC35B660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51774"/>
            <a:ext cx="8077200" cy="667376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B5687E-1726-2A45-A9A3-54461932D940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67289" y="1733970"/>
            <a:ext cx="3733800" cy="24379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="0" i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quam, </a:t>
            </a:r>
            <a:r>
              <a:rPr lang="en-US" dirty="0" err="1"/>
              <a:t>pulvinar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vitae,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dui. </a:t>
            </a:r>
            <a:r>
              <a:rPr lang="en-US" dirty="0" err="1"/>
              <a:t>Phasellus</a:t>
            </a:r>
            <a:r>
              <a:rPr lang="en-US" dirty="0"/>
              <a:t> maximus id </a:t>
            </a:r>
            <a:r>
              <a:rPr lang="en-US" dirty="0" err="1"/>
              <a:t>neque</a:t>
            </a:r>
            <a:r>
              <a:rPr lang="en-US" dirty="0"/>
              <a:t> et convallis.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Ut</a:t>
            </a:r>
            <a:r>
              <a:rPr lang="en-US" dirty="0"/>
              <a:t> at mi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magna, et </a:t>
            </a:r>
            <a:r>
              <a:rPr lang="en-US" dirty="0" err="1"/>
              <a:t>alqiquam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tempus sed.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ac nisi ac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laet</a:t>
            </a:r>
            <a:r>
              <a:rPr lang="en-US" dirty="0"/>
              <a:t> vel, porta </a:t>
            </a:r>
            <a:r>
              <a:rPr lang="en-US" dirty="0" err="1"/>
              <a:t>eget</a:t>
            </a:r>
            <a:r>
              <a:rPr lang="en-US" dirty="0"/>
              <a:t> ipsum. </a:t>
            </a:r>
          </a:p>
          <a:p>
            <a:pPr lvl="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8310A4-92E7-4F0D-3409-DD26896BA2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799" y="1196618"/>
            <a:ext cx="3748891" cy="355789"/>
          </a:xfrm>
          <a:prstGeom prst="rect">
            <a:avLst/>
          </a:prstGeom>
        </p:spPr>
        <p:txBody>
          <a:bodyPr anchor="ctr"/>
          <a:lstStyle>
            <a:lvl1pPr algn="ctr"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Text Here.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ADF31C-1F67-6168-4985-5D1E169B54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5800" y="1197515"/>
            <a:ext cx="3749675" cy="368300"/>
          </a:xfrm>
          <a:prstGeom prst="rect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algn="ctr"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FC1F46-B5A7-DF6C-33F2-750FEF3E11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52999" y="1196618"/>
            <a:ext cx="3733800" cy="376238"/>
          </a:xfrm>
          <a:prstGeom prst="rect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387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04322F-E818-4945-81B0-6948B2199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138642"/>
            <a:ext cx="8305800" cy="680508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D1CA7-C5D9-FA4F-A474-9A54BEE09FB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02000" y="4656666"/>
            <a:ext cx="5384800" cy="300747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CD550-90FA-8449-829C-FFDF581533B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8686800" y="4476750"/>
            <a:ext cx="304800" cy="666750"/>
          </a:xfrm>
        </p:spPr>
        <p:txBody>
          <a:bodyPr/>
          <a:lstStyle>
            <a:lvl1pPr>
              <a:defRPr sz="9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29B8B9-9324-294D-8B61-720472168CE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85800" y="1200150"/>
            <a:ext cx="8001000" cy="325755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71289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Graph-Chart o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69"/>
            <a:ext cx="228600" cy="273843"/>
          </a:xfrm>
          <a:prstGeom prst="rect">
            <a:avLst/>
          </a:prstGeom>
        </p:spPr>
        <p:txBody>
          <a:bodyPr anchor="ctr" anchorCtr="0"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1BAD-6F27-9F49-B39E-3C82EE00A9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10200" y="4667146"/>
            <a:ext cx="3276600" cy="273844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D712-14A9-B64B-A378-C1CA980C0FF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85800" y="0"/>
            <a:ext cx="8001000" cy="447223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891107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anchor="t">
            <a:normAutofit/>
          </a:bodyPr>
          <a:lstStyle>
            <a:lvl1pPr marL="0" indent="0" algn="l">
              <a:buNone/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9166" y="4683570"/>
            <a:ext cx="272434" cy="288482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275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W Callout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anchor="t">
            <a:normAutofit/>
          </a:bodyPr>
          <a:lstStyle>
            <a:lvl1pPr marL="0" indent="0" algn="l">
              <a:buNone/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9166" y="4683570"/>
            <a:ext cx="272434" cy="288482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ACCB9-B490-980D-2F54-090B5BF83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6600" y="5013"/>
            <a:ext cx="1905000" cy="2800350"/>
          </a:xfrm>
          <a:prstGeom prst="rect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algn="ctr">
              <a:lnSpc>
                <a:spcPct val="150000"/>
              </a:lnSpc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6350" indent="0" algn="ctr">
              <a:lnSpc>
                <a:spcPct val="100000"/>
              </a:lnSpc>
              <a:tabLst/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2pPr>
          </a:lstStyle>
          <a:p>
            <a:pPr lvl="0"/>
            <a:r>
              <a:rPr lang="en-US" dirty="0"/>
              <a:t>Text here.</a:t>
            </a:r>
          </a:p>
        </p:txBody>
      </p:sp>
    </p:spTree>
    <p:extLst>
      <p:ext uri="{BB962C8B-B14F-4D97-AF65-F5344CB8AC3E}">
        <p14:creationId xmlns:p14="http://schemas.microsoft.com/office/powerpoint/2010/main" val="1407258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4683570"/>
            <a:ext cx="228600" cy="273844"/>
          </a:xfrm>
          <a:prstGeom prst="rect">
            <a:avLst/>
          </a:prstGeom>
        </p:spPr>
        <p:txBody>
          <a:bodyPr anchor="ctr"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BB73-179B-9B4D-8CFD-64CC9764006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889197" y="4671366"/>
            <a:ext cx="5797602" cy="277152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D797FC-7CAF-1841-89ED-F7FD6C484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989722"/>
            <a:ext cx="9144000" cy="5334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Thank you. Questions?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E1647-A446-144B-AC92-E9FCF61A15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85799" y="1428750"/>
            <a:ext cx="8000999" cy="300533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Place image here</a:t>
            </a:r>
          </a:p>
        </p:txBody>
      </p:sp>
    </p:spTree>
    <p:extLst>
      <p:ext uri="{BB962C8B-B14F-4D97-AF65-F5344CB8AC3E}">
        <p14:creationId xmlns:p14="http://schemas.microsoft.com/office/powerpoint/2010/main" val="549881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12564"/>
            <a:ext cx="304800" cy="63093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900" b="0" i="0">
                <a:solidFill>
                  <a:srgbClr val="82838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35F4044-894B-B74C-BA70-A76DFBF02618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CC34D90-AED6-114D-90B1-0CDF7287D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00400" y="4672158"/>
            <a:ext cx="54864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rgbClr val="A71E2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Group 5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5812F3B1-5C07-F14B-84F7-1CF91363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1541"/>
            <a:ext cx="8314266" cy="66761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B610AE-A5C0-86EB-2153-58F4C32C840E}"/>
              </a:ext>
            </a:extLst>
          </p:cNvPr>
          <p:cNvSpPr/>
          <p:nvPr userDrawn="1"/>
        </p:nvSpPr>
        <p:spPr>
          <a:xfrm>
            <a:off x="1" y="1614"/>
            <a:ext cx="152400" cy="5143500"/>
          </a:xfrm>
          <a:prstGeom prst="rect">
            <a:avLst/>
          </a:prstGeom>
          <a:gradFill>
            <a:gsLst>
              <a:gs pos="0">
                <a:schemeClr val="accent3"/>
              </a:gs>
              <a:gs pos="50000">
                <a:srgbClr val="C00000"/>
              </a:gs>
              <a:gs pos="85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Verdana" panose="020B0604030504040204" pitchFamily="34" charset="0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D67160-FE3B-99DD-D6A8-51769C92F94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91979" y="4605609"/>
            <a:ext cx="2013992" cy="34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8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25" r:id="rId2"/>
    <p:sldLayoutId id="2147483707" r:id="rId3"/>
    <p:sldLayoutId id="2147483693" r:id="rId4"/>
    <p:sldLayoutId id="2147483722" r:id="rId5"/>
    <p:sldLayoutId id="2147483723" r:id="rId6"/>
    <p:sldLayoutId id="2147483719" r:id="rId7"/>
    <p:sldLayoutId id="2147483721" r:id="rId8"/>
    <p:sldLayoutId id="2147483706" r:id="rId9"/>
    <p:sldLayoutId id="2147483665" r:id="rId10"/>
    <p:sldLayoutId id="2147483687" r:id="rId11"/>
    <p:sldLayoutId id="2147483675" r:id="rId12"/>
    <p:sldLayoutId id="2147483724" r:id="rId13"/>
    <p:sldLayoutId id="2147483679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Tx/>
        <a:buNone/>
        <a:defRPr sz="900" b="0" i="0" kern="1200" baseline="0">
          <a:solidFill>
            <a:srgbClr val="C00000"/>
          </a:solidFill>
          <a:latin typeface="Effra" panose="020B0603020203020204" pitchFamily="34" charset="0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b="1" i="0" kern="1200">
          <a:solidFill>
            <a:schemeClr val="tx1">
              <a:lumMod val="75000"/>
              <a:lumOff val="25000"/>
            </a:schemeClr>
          </a:solidFill>
          <a:latin typeface="Effra" panose="020B0603020203020204" pitchFamily="34" charset="0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b="0" i="0" kern="1200">
          <a:solidFill>
            <a:schemeClr val="tx1">
              <a:lumMod val="75000"/>
              <a:lumOff val="25000"/>
            </a:schemeClr>
          </a:solidFill>
          <a:latin typeface="Effra" panose="020B0603020203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>
              <a:lumMod val="75000"/>
              <a:lumOff val="25000"/>
            </a:schemeClr>
          </a:solidFill>
          <a:latin typeface="Effra" panose="020B0603020203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>
              <a:lumMod val="75000"/>
              <a:lumOff val="25000"/>
            </a:schemeClr>
          </a:solidFill>
          <a:latin typeface="Effra" panose="020B0603020203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16" userDrawn="1">
          <p15:clr>
            <a:srgbClr val="F26B43"/>
          </p15:clr>
        </p15:guide>
        <p15:guide id="6" orient="horz" pos="132" userDrawn="1">
          <p15:clr>
            <a:srgbClr val="F26B43"/>
          </p15:clr>
        </p15:guide>
        <p15:guide id="9" orient="horz" pos="3060" userDrawn="1">
          <p15:clr>
            <a:srgbClr val="F26B43"/>
          </p15:clr>
        </p15:guide>
        <p15:guide id="12" pos="432" userDrawn="1">
          <p15:clr>
            <a:srgbClr val="F26B43"/>
          </p15:clr>
        </p15:guide>
        <p15:guide id="13" pos="5664" userDrawn="1">
          <p15:clr>
            <a:srgbClr val="F26B43"/>
          </p15:clr>
        </p15:guide>
        <p15:guide id="14" pos="5472" userDrawn="1">
          <p15:clr>
            <a:srgbClr val="F26B43"/>
          </p15:clr>
        </p15:guide>
        <p15:guide id="15" orient="horz" pos="660" userDrawn="1">
          <p15:clr>
            <a:srgbClr val="F26B43"/>
          </p15:clr>
        </p15:guide>
        <p15:guide id="16" orient="horz" pos="27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FB013F-9D34-ED6C-A0B7-B6E1BEC4F0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Healthcare Data Analysis Using MEPS 2020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28C524-F852-EED7-FB5D-D62712E566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" y="2940159"/>
            <a:ext cx="4101757" cy="109958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Aft>
                <a:spcPts val="300"/>
              </a:spcAft>
              <a:defRPr sz="1600" b="1" i="0" spc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tabLst/>
              <a:defRPr sz="1400" b="0" i="0">
                <a:solidFill>
                  <a:schemeClr val="tx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AMS 597 Statistical Computing</a:t>
            </a:r>
          </a:p>
          <a:p>
            <a:pPr lvl="1"/>
            <a:r>
              <a:rPr lang="en-US" dirty="0"/>
              <a:t>Instructor: Dr. Silvia Sharna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46F940E-A3C9-9880-9152-6EF93EE276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9958" y="2949415"/>
            <a:ext cx="4038600" cy="109958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Aft>
                <a:spcPts val="300"/>
              </a:spcAft>
              <a:defRPr sz="1600" b="1" i="0" spc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tabLst/>
              <a:defRPr sz="1400" b="0" i="0">
                <a:solidFill>
                  <a:schemeClr val="tx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Group 5</a:t>
            </a:r>
          </a:p>
          <a:p>
            <a:pPr lvl="1"/>
            <a:r>
              <a:rPr lang="en-US" dirty="0" err="1"/>
              <a:t>Junsung</a:t>
            </a:r>
            <a:r>
              <a:rPr lang="en-US" dirty="0"/>
              <a:t> Rhee        </a:t>
            </a:r>
            <a:r>
              <a:rPr lang="ko-KR" altLang="en-US" dirty="0"/>
              <a:t>    </a:t>
            </a:r>
            <a:r>
              <a:rPr lang="en-US" dirty="0"/>
              <a:t>116740814</a:t>
            </a:r>
          </a:p>
          <a:p>
            <a:pPr lvl="1"/>
            <a:r>
              <a:rPr lang="en-US" dirty="0"/>
              <a:t>Keun Young Yoon     </a:t>
            </a:r>
            <a:r>
              <a:rPr lang="en-US" altLang="ko-KR" dirty="0"/>
              <a:t>1</a:t>
            </a:r>
            <a:r>
              <a:rPr lang="en-US" dirty="0"/>
              <a:t>16517818</a:t>
            </a:r>
          </a:p>
          <a:p>
            <a:pPr lvl="1"/>
            <a:r>
              <a:rPr lang="en-US" dirty="0"/>
              <a:t>Dhananjay Sharma   116740841</a:t>
            </a:r>
          </a:p>
          <a:p>
            <a:pPr lvl="1"/>
            <a:r>
              <a:rPr lang="en-US" dirty="0"/>
              <a:t>Parth </a:t>
            </a:r>
            <a:r>
              <a:rPr lang="en-US" dirty="0" err="1"/>
              <a:t>Pidadi</a:t>
            </a:r>
            <a:r>
              <a:rPr lang="en-US" dirty="0"/>
              <a:t>        </a:t>
            </a:r>
            <a:r>
              <a:rPr lang="ko-KR" altLang="en-US" dirty="0"/>
              <a:t>       </a:t>
            </a:r>
            <a:r>
              <a:rPr lang="en-US" dirty="0"/>
              <a:t>116237374</a:t>
            </a:r>
          </a:p>
        </p:txBody>
      </p:sp>
    </p:spTree>
    <p:extLst>
      <p:ext uri="{BB962C8B-B14F-4D97-AF65-F5344CB8AC3E}">
        <p14:creationId xmlns:p14="http://schemas.microsoft.com/office/powerpoint/2010/main" val="214958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6FCD74-816C-6621-E6C7-47EE611A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2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09121-EF4B-5B59-A207-CD5703E775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D28AB-79CA-632A-2E29-FB32D7981B7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Dataset and Variable Overview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7286FD9-FC84-2461-A463-49BBCA646C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5800" y="915566"/>
            <a:ext cx="8001000" cy="3552800"/>
          </a:xfrm>
        </p:spPr>
        <p:txBody>
          <a:bodyPr/>
          <a:lstStyle/>
          <a:p>
            <a:pPr algn="l"/>
            <a:r>
              <a:rPr lang="en-US" sz="900" b="1" u="sng" dirty="0">
                <a:solidFill>
                  <a:schemeClr val="tx1"/>
                </a:solidFill>
              </a:rPr>
              <a:t>Project Objective: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To identify risk factors linked to high healthcare costs, chronic illness, and mental distress 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— with the goal of supporting preventive care strategies that help reduce insurance costs 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and expand access to coverage.</a:t>
            </a:r>
          </a:p>
          <a:p>
            <a:pPr algn="l"/>
            <a:br>
              <a:rPr lang="en-US" sz="900" b="1" u="sng" dirty="0">
                <a:solidFill>
                  <a:schemeClr val="tx1"/>
                </a:solidFill>
              </a:rPr>
            </a:br>
            <a:r>
              <a:rPr lang="en-US" sz="900" b="1" u="sng" dirty="0">
                <a:solidFill>
                  <a:schemeClr val="tx1"/>
                </a:solidFill>
              </a:rPr>
              <a:t>Dataset</a:t>
            </a:r>
            <a:r>
              <a:rPr lang="en-US" sz="900" b="1" dirty="0">
                <a:solidFill>
                  <a:schemeClr val="tx1"/>
                </a:solidFill>
              </a:rPr>
              <a:t>: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b="0" dirty="0">
                <a:solidFill>
                  <a:schemeClr val="tx1"/>
                </a:solidFill>
              </a:rPr>
              <a:t>MEPS HC-224 (2020) – a nationally representative U.S. healthcare survey 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with 27,805 individuals and 1,451 variables covering expenditures, insurance, chronic 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conditions, and demographics.</a:t>
            </a:r>
          </a:p>
          <a:p>
            <a:pPr algn="l"/>
            <a:endParaRPr lang="en-US" sz="900" u="sng" dirty="0">
              <a:solidFill>
                <a:schemeClr val="tx1"/>
              </a:solidFill>
            </a:endParaRPr>
          </a:p>
          <a:p>
            <a:pPr algn="l"/>
            <a:r>
              <a:rPr lang="en-US" sz="900" u="sng" dirty="0">
                <a:solidFill>
                  <a:schemeClr val="tx1"/>
                </a:solidFill>
              </a:rPr>
              <a:t>RQ1 – Expenditure Analysis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Objective: Identify which medical service categories (e.g., inpatient, emergency, prescriptions) 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most drive total healthcare expenditures.</a:t>
            </a:r>
          </a:p>
          <a:p>
            <a:pPr algn="l"/>
            <a:endParaRPr lang="en-US" sz="900" u="sng" dirty="0">
              <a:solidFill>
                <a:schemeClr val="tx1"/>
              </a:solidFill>
            </a:endParaRPr>
          </a:p>
          <a:p>
            <a:pPr algn="l"/>
            <a:r>
              <a:rPr lang="en-US" sz="900" u="sng" dirty="0">
                <a:solidFill>
                  <a:schemeClr val="tx1"/>
                </a:solidFill>
              </a:rPr>
              <a:t>RQ2 – Chronic Disease and Demographics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Objective: Examine whether demographic characteristics are associated with the likelihood of having a chronic condition.</a:t>
            </a:r>
          </a:p>
          <a:p>
            <a:pPr algn="l"/>
            <a:endParaRPr lang="en-US" sz="900" u="sng" dirty="0">
              <a:solidFill>
                <a:schemeClr val="tx1"/>
              </a:solidFill>
            </a:endParaRPr>
          </a:p>
          <a:p>
            <a:pPr algn="l"/>
            <a:r>
              <a:rPr lang="en-US" sz="900" u="sng" dirty="0">
                <a:solidFill>
                  <a:schemeClr val="tx1"/>
                </a:solidFill>
              </a:rPr>
              <a:t>RQ3 – Lifestyle and Psychological Distress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Objective: Determine which behavioral patterns (e.g., sleep, alcohol use, smoking) predict high psychological distress.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1A8AF0-DD1C-7A5A-ACF9-82DA512C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203598"/>
            <a:ext cx="2707152" cy="20417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8C27B8-F97F-E13E-7445-4722A5AD8813}"/>
              </a:ext>
            </a:extLst>
          </p:cNvPr>
          <p:cNvSpPr/>
          <p:nvPr/>
        </p:nvSpPr>
        <p:spPr>
          <a:xfrm>
            <a:off x="648000" y="2664000"/>
            <a:ext cx="1728192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5FA1E2-9604-805A-2A59-FEBC764AE76C}"/>
              </a:ext>
            </a:extLst>
          </p:cNvPr>
          <p:cNvSpPr/>
          <p:nvPr/>
        </p:nvSpPr>
        <p:spPr>
          <a:xfrm>
            <a:off x="648000" y="3371864"/>
            <a:ext cx="2552400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650F1D-4A33-87C6-2E57-694791E3D31C}"/>
              </a:ext>
            </a:extLst>
          </p:cNvPr>
          <p:cNvSpPr/>
          <p:nvPr/>
        </p:nvSpPr>
        <p:spPr>
          <a:xfrm>
            <a:off x="648000" y="3906000"/>
            <a:ext cx="2552400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2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1F0B-CF51-304D-0EA2-2BFCE4C5B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E7B7B-7874-2CEA-6D5D-8DAA1E69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3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64130-8AB0-32B5-1803-BB7988FD61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E536A-CAC4-D285-1144-83D3FE32D34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Distribution &amp; Summary of Expenditures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C433AE-904A-6AF9-638F-3E1DE240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33" y="1072377"/>
            <a:ext cx="1715530" cy="1366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B95099-F984-CB15-7A32-511A25667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806" y="1107572"/>
            <a:ext cx="1715530" cy="13441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16F208-A327-87D6-8F22-903FA539C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458" y="1134820"/>
            <a:ext cx="1463972" cy="13169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3957AF-5760-38F9-D06E-1D8CE1B86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491" y="1121631"/>
            <a:ext cx="1679335" cy="131693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BC6693D-3F67-EF57-BF31-80C718EB10FC}"/>
              </a:ext>
            </a:extLst>
          </p:cNvPr>
          <p:cNvGrpSpPr/>
          <p:nvPr/>
        </p:nvGrpSpPr>
        <p:grpSpPr>
          <a:xfrm>
            <a:off x="943535" y="2905396"/>
            <a:ext cx="7256931" cy="1814411"/>
            <a:chOff x="1071754" y="2905396"/>
            <a:chExt cx="7256931" cy="181441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7D2F34-3CDD-CA32-2C18-03E7BDE48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1754" y="3018952"/>
              <a:ext cx="1800200" cy="149029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417F5B6-5682-1FF3-A87A-6F76AF537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38083" y="3018952"/>
              <a:ext cx="1780256" cy="149029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536E23-0347-31B1-D5AA-A40FBDE45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84469" y="2905396"/>
              <a:ext cx="1944216" cy="1814411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</p:pic>
      </p:grp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8DE156E-0D0F-115F-045C-86EF10BCDDB1}"/>
              </a:ext>
            </a:extLst>
          </p:cNvPr>
          <p:cNvSpPr txBox="1">
            <a:spLocks/>
          </p:cNvSpPr>
          <p:nvPr/>
        </p:nvSpPr>
        <p:spPr>
          <a:xfrm>
            <a:off x="815315" y="777124"/>
            <a:ext cx="2448272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[Demographic Distribution]</a:t>
            </a:r>
            <a:endParaRPr lang="en-US" sz="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3F7B6E-58AF-CCF2-CEA5-6561ED55F237}"/>
              </a:ext>
            </a:extLst>
          </p:cNvPr>
          <p:cNvSpPr/>
          <p:nvPr/>
        </p:nvSpPr>
        <p:spPr>
          <a:xfrm>
            <a:off x="800229" y="987574"/>
            <a:ext cx="7762384" cy="158417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317B2E9-66F6-6E72-9D40-0C073CF9C7F6}"/>
              </a:ext>
            </a:extLst>
          </p:cNvPr>
          <p:cNvSpPr txBox="1">
            <a:spLocks/>
          </p:cNvSpPr>
          <p:nvPr/>
        </p:nvSpPr>
        <p:spPr>
          <a:xfrm>
            <a:off x="1331640" y="2740174"/>
            <a:ext cx="1080120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[Expenditure Split]</a:t>
            </a:r>
            <a:endParaRPr lang="en-US" sz="800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7A719334-B7B2-937A-A0DC-5F68B5AB2E44}"/>
              </a:ext>
            </a:extLst>
          </p:cNvPr>
          <p:cNvSpPr txBox="1">
            <a:spLocks/>
          </p:cNvSpPr>
          <p:nvPr/>
        </p:nvSpPr>
        <p:spPr>
          <a:xfrm>
            <a:off x="3607411" y="2746072"/>
            <a:ext cx="2448272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[Prevalence of Health Conditions]</a:t>
            </a:r>
            <a:endParaRPr lang="en-US" sz="800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8F5AA1D6-C787-E465-0742-6466E7BC4433}"/>
              </a:ext>
            </a:extLst>
          </p:cNvPr>
          <p:cNvSpPr txBox="1">
            <a:spLocks/>
          </p:cNvSpPr>
          <p:nvPr/>
        </p:nvSpPr>
        <p:spPr>
          <a:xfrm>
            <a:off x="6027197" y="2655410"/>
            <a:ext cx="2448272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[Statistical Summary of Continuous Variables]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5202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1E2B-3442-3A26-593C-75100249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15A04E-7583-0229-D67E-32F27A2C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4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9E45E-E46D-F96E-0E6A-F1CA8275387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CE830-AF25-8126-73E7-8E6AA8A43D0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RQ1: What drives healthcare costs?</a:t>
            </a:r>
            <a:endParaRPr lang="en-US" dirty="0"/>
          </a:p>
        </p:txBody>
      </p:sp>
      <p:pic>
        <p:nvPicPr>
          <p:cNvPr id="13" name="Picture 12" descr="A screenshot of several graphs&#10;&#10;AI-generated content may be incorrect.">
            <a:extLst>
              <a:ext uri="{FF2B5EF4-FFF2-40B4-BE49-F238E27FC236}">
                <a16:creationId xmlns:a16="http://schemas.microsoft.com/office/drawing/2014/main" id="{50B435C4-07EC-A40A-1BBC-502E77B39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08" y="2707048"/>
            <a:ext cx="2741667" cy="16920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graphicFrame>
        <p:nvGraphicFramePr>
          <p:cNvPr id="32" name="Content Placeholder 31">
            <a:extLst>
              <a:ext uri="{FF2B5EF4-FFF2-40B4-BE49-F238E27FC236}">
                <a16:creationId xmlns:a16="http://schemas.microsoft.com/office/drawing/2014/main" id="{69C847FD-600D-7AED-07C8-50C8C71F4D62}"/>
              </a:ext>
            </a:extLst>
          </p:cNvPr>
          <p:cNvGraphicFramePr>
            <a:graphicFrameLocks noGrp="1"/>
          </p:cNvGraphicFramePr>
          <p:nvPr>
            <p:ph sz="quarter" idx="34"/>
            <p:extLst>
              <p:ext uri="{D42A27DB-BD31-4B8C-83A1-F6EECF244321}">
                <p14:modId xmlns:p14="http://schemas.microsoft.com/office/powerpoint/2010/main" val="2056304303"/>
              </p:ext>
            </p:extLst>
          </p:nvPr>
        </p:nvGraphicFramePr>
        <p:xfrm>
          <a:off x="685800" y="943458"/>
          <a:ext cx="7918648" cy="1285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21229">
                  <a:extLst>
                    <a:ext uri="{9D8B030D-6E8A-4147-A177-3AD203B41FA5}">
                      <a16:colId xmlns:a16="http://schemas.microsoft.com/office/drawing/2014/main" val="2027265837"/>
                    </a:ext>
                  </a:extLst>
                </a:gridCol>
                <a:gridCol w="5697419">
                  <a:extLst>
                    <a:ext uri="{9D8B030D-6E8A-4147-A177-3AD203B41FA5}">
                      <a16:colId xmlns:a16="http://schemas.microsoft.com/office/drawing/2014/main" val="504335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Dependent Variable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Total Expenditure (TOTEXP20)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07011"/>
                  </a:ext>
                </a:extLst>
              </a:tr>
              <a:tr h="3692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kern="1200" dirty="0">
                          <a:solidFill>
                            <a:schemeClr val="lt1"/>
                          </a:solidFill>
                          <a:latin typeface="Georgia" panose="02040502050405020303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Independent Variables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Expenditures: Office-Based Doctor Visits (OBDEXP20), Outpatient Therapist Visits(OPTEXP20), Emergency Room(ERDEXP20), Inpatient Hospital(IPDEXP20), Prescription Drugs(RXEXP20)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93023"/>
                  </a:ext>
                </a:extLst>
              </a:tr>
            </a:tbl>
          </a:graphicData>
        </a:graphic>
      </p:graphicFrame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BDDFE209-6CA7-2D66-50A0-E392838C5C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42808" y="2427734"/>
            <a:ext cx="2448272" cy="257944"/>
          </a:xfrm>
        </p:spPr>
        <p:txBody>
          <a:bodyPr/>
          <a:lstStyle/>
          <a:p>
            <a:pPr algn="l"/>
            <a:r>
              <a:rPr lang="en-US" altLang="ko-KR" sz="800" b="1" dirty="0"/>
              <a:t>[</a:t>
            </a:r>
            <a:r>
              <a:rPr lang="en-US" sz="800" b="1" dirty="0"/>
              <a:t>Raw Distributions of Expenditures</a:t>
            </a:r>
            <a:r>
              <a:rPr lang="en-US" altLang="ko-KR" sz="800" b="1" dirty="0"/>
              <a:t>]</a:t>
            </a:r>
            <a:endParaRPr lang="en-US" sz="800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14CF3C0-D2DC-CCE0-6CA7-37049490E4CF}"/>
              </a:ext>
            </a:extLst>
          </p:cNvPr>
          <p:cNvSpPr txBox="1">
            <a:spLocks/>
          </p:cNvSpPr>
          <p:nvPr/>
        </p:nvSpPr>
        <p:spPr>
          <a:xfrm>
            <a:off x="3200400" y="2427734"/>
            <a:ext cx="2448272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</a:t>
            </a:r>
            <a:r>
              <a:rPr lang="en-US" sz="800" dirty="0"/>
              <a:t>Log-Transformed Distributions</a:t>
            </a:r>
            <a:r>
              <a:rPr lang="en-US" altLang="ko-KR" sz="800" dirty="0"/>
              <a:t>]</a:t>
            </a:r>
            <a:endParaRPr lang="en-US" sz="800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B34241-85D2-E0A0-18F6-F58B11995E78}"/>
              </a:ext>
            </a:extLst>
          </p:cNvPr>
          <p:cNvSpPr txBox="1">
            <a:spLocks/>
          </p:cNvSpPr>
          <p:nvPr/>
        </p:nvSpPr>
        <p:spPr>
          <a:xfrm>
            <a:off x="6074076" y="2433544"/>
            <a:ext cx="2448272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</a:t>
            </a:r>
            <a:r>
              <a:rPr lang="en-US" sz="800" dirty="0"/>
              <a:t>Boxplots of Log-Transformed Data</a:t>
            </a:r>
            <a:r>
              <a:rPr lang="en-US" altLang="ko-KR" sz="800" dirty="0"/>
              <a:t>]</a:t>
            </a:r>
            <a:endParaRPr lang="en-US" sz="8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1E66362-7CFF-5415-A871-B8D2C3B4F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42" y="2707048"/>
            <a:ext cx="2741667" cy="16920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46AAF93-8DE8-9CDC-90D1-70828BB68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076" y="2707048"/>
            <a:ext cx="2741667" cy="1692000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16136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5254-88DA-A723-15F2-B4D5B48C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B01CC-8847-8130-D5E1-7ED586FD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5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38F27-1FCA-DF55-5655-774EFB5801A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EFD49-6C9E-7246-8D99-952CA1D065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RQ1: ANOVA and Linear Regression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F46F2-3AC5-C99C-B017-28BC7E20E8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endParaRPr lang="en-US" dirty="0"/>
          </a:p>
        </p:txBody>
      </p:sp>
      <p:pic>
        <p:nvPicPr>
          <p:cNvPr id="7" name="Picture 6" descr="A diagram of different colored shapes&#10;&#10;AI-generated content may be incorrect.">
            <a:extLst>
              <a:ext uri="{FF2B5EF4-FFF2-40B4-BE49-F238E27FC236}">
                <a16:creationId xmlns:a16="http://schemas.microsoft.com/office/drawing/2014/main" id="{101634AE-2172-76D6-2441-0420D789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86" y="2838117"/>
            <a:ext cx="2741667" cy="16920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8" name="Content Placeholder 27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28ED0BA3-71CF-D57E-3A49-04616C4C9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86" y="1069391"/>
            <a:ext cx="2741667" cy="16920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B1CC0B-7229-4985-E134-C26D8729E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771" y="1131590"/>
            <a:ext cx="4884529" cy="203501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F5330A-E217-7B3C-7742-A5738C2550B5}"/>
              </a:ext>
            </a:extLst>
          </p:cNvPr>
          <p:cNvCxnSpPr/>
          <p:nvPr/>
        </p:nvCxnSpPr>
        <p:spPr>
          <a:xfrm>
            <a:off x="3851920" y="819150"/>
            <a:ext cx="0" cy="376800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28A9C04-BE48-1164-A9D6-C018CAA4251C}"/>
              </a:ext>
            </a:extLst>
          </p:cNvPr>
          <p:cNvSpPr/>
          <p:nvPr/>
        </p:nvSpPr>
        <p:spPr>
          <a:xfrm>
            <a:off x="6008400" y="1542620"/>
            <a:ext cx="928800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22BDBC-73B7-43D6-F620-C1283C2ABA3E}"/>
              </a:ext>
            </a:extLst>
          </p:cNvPr>
          <p:cNvSpPr/>
          <p:nvPr/>
        </p:nvSpPr>
        <p:spPr>
          <a:xfrm>
            <a:off x="6008400" y="2388640"/>
            <a:ext cx="928800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F645DB-5C89-FBBE-AF67-77161C005078}"/>
              </a:ext>
            </a:extLst>
          </p:cNvPr>
          <p:cNvSpPr/>
          <p:nvPr/>
        </p:nvSpPr>
        <p:spPr>
          <a:xfrm>
            <a:off x="7671600" y="1547666"/>
            <a:ext cx="789856" cy="1020994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CD32E23-CD58-932B-7ED1-47B63E86742C}"/>
              </a:ext>
            </a:extLst>
          </p:cNvPr>
          <p:cNvSpPr txBox="1">
            <a:spLocks/>
          </p:cNvSpPr>
          <p:nvPr/>
        </p:nvSpPr>
        <p:spPr>
          <a:xfrm>
            <a:off x="4342550" y="3087380"/>
            <a:ext cx="4555433" cy="746871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accent3"/>
                </a:solidFill>
              </a:rPr>
              <a:t>Prescription (</a:t>
            </a:r>
            <a:r>
              <a:rPr lang="en-US" altLang="ko-KR" sz="900" dirty="0" err="1">
                <a:solidFill>
                  <a:schemeClr val="accent3"/>
                </a:solidFill>
              </a:rPr>
              <a:t>log_rx</a:t>
            </a:r>
            <a:r>
              <a:rPr lang="en-US" altLang="ko-KR" sz="900" dirty="0">
                <a:solidFill>
                  <a:schemeClr val="accent3"/>
                </a:solidFill>
              </a:rPr>
              <a:t>) appears most consistently across all tables</a:t>
            </a:r>
            <a:endParaRPr lang="en-US" sz="900" dirty="0">
              <a:solidFill>
                <a:schemeClr val="accent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0A7AC5-A306-A1CF-3CD8-DB7C3D595142}"/>
              </a:ext>
            </a:extLst>
          </p:cNvPr>
          <p:cNvSpPr txBox="1"/>
          <p:nvPr/>
        </p:nvSpPr>
        <p:spPr>
          <a:xfrm>
            <a:off x="10458994" y="-113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1E9088-B030-EA2D-619E-28F72717043D}"/>
              </a:ext>
            </a:extLst>
          </p:cNvPr>
          <p:cNvSpPr/>
          <p:nvPr/>
        </p:nvSpPr>
        <p:spPr>
          <a:xfrm>
            <a:off x="4374300" y="2388640"/>
            <a:ext cx="989788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DAA63E-4114-3906-648A-FED97C42079D}"/>
              </a:ext>
            </a:extLst>
          </p:cNvPr>
          <p:cNvSpPr/>
          <p:nvPr/>
        </p:nvSpPr>
        <p:spPr>
          <a:xfrm>
            <a:off x="4376925" y="2174436"/>
            <a:ext cx="989788" cy="194319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93B740F-F62A-EEE6-8A09-5CA7B641D279}"/>
              </a:ext>
            </a:extLst>
          </p:cNvPr>
          <p:cNvSpPr txBox="1">
            <a:spLocks/>
          </p:cNvSpPr>
          <p:nvPr/>
        </p:nvSpPr>
        <p:spPr>
          <a:xfrm>
            <a:off x="685801" y="811447"/>
            <a:ext cx="3025269" cy="257944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800" dirty="0"/>
              <a:t>[</a:t>
            </a:r>
            <a:r>
              <a:rPr lang="en-US" sz="800" dirty="0"/>
              <a:t>How Medical Costs Are Distributed Across Categories</a:t>
            </a:r>
            <a:r>
              <a:rPr lang="en-US" altLang="ko-KR" sz="800" dirty="0"/>
              <a:t>]</a:t>
            </a:r>
            <a:endParaRPr lang="en-US" sz="800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3B10B97D-E535-CCE8-A2F0-BAC2E5504F0B}"/>
              </a:ext>
            </a:extLst>
          </p:cNvPr>
          <p:cNvSpPr txBox="1">
            <a:spLocks/>
          </p:cNvSpPr>
          <p:nvPr/>
        </p:nvSpPr>
        <p:spPr>
          <a:xfrm>
            <a:off x="4342550" y="3444867"/>
            <a:ext cx="4555433" cy="746871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accent3"/>
                </a:solidFill>
              </a:rPr>
              <a:t>log_ip</a:t>
            </a:r>
            <a:r>
              <a:rPr lang="en-US" sz="900" dirty="0">
                <a:solidFill>
                  <a:schemeClr val="accent3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and</a:t>
            </a:r>
            <a:r>
              <a:rPr lang="en-US" sz="900" dirty="0">
                <a:solidFill>
                  <a:schemeClr val="accent3"/>
                </a:solidFill>
              </a:rPr>
              <a:t> </a:t>
            </a:r>
            <a:r>
              <a:rPr lang="en-US" sz="900" dirty="0" err="1">
                <a:solidFill>
                  <a:schemeClr val="accent3"/>
                </a:solidFill>
              </a:rPr>
              <a:t>log_rx</a:t>
            </a:r>
            <a:r>
              <a:rPr lang="en-US" sz="900" dirty="0">
                <a:solidFill>
                  <a:schemeClr val="accent3"/>
                </a:solidFill>
              </a:rPr>
              <a:t> had the strongest marginal effects </a:t>
            </a:r>
            <a:r>
              <a:rPr lang="en-US" sz="900" dirty="0">
                <a:solidFill>
                  <a:schemeClr val="tx1"/>
                </a:solidFill>
              </a:rPr>
              <a:t>in</a:t>
            </a:r>
            <a:r>
              <a:rPr lang="en-US" sz="900" dirty="0">
                <a:solidFill>
                  <a:schemeClr val="accent3"/>
                </a:solidFill>
              </a:rPr>
              <a:t> the linear model</a:t>
            </a:r>
            <a:r>
              <a:rPr lang="en-US" sz="900" dirty="0">
                <a:solidFill>
                  <a:schemeClr val="tx1"/>
                </a:solidFill>
              </a:rPr>
              <a:t>,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while </a:t>
            </a:r>
            <a:r>
              <a:rPr lang="en-US" sz="900" dirty="0" err="1">
                <a:solidFill>
                  <a:schemeClr val="accent3"/>
                </a:solidFill>
              </a:rPr>
              <a:t>log_obd</a:t>
            </a:r>
            <a:r>
              <a:rPr lang="en-US" sz="900" dirty="0">
                <a:solidFill>
                  <a:schemeClr val="accent3"/>
                </a:solidFill>
              </a:rPr>
              <a:t> explained the largest share </a:t>
            </a:r>
            <a:r>
              <a:rPr lang="en-US" sz="900" dirty="0">
                <a:solidFill>
                  <a:schemeClr val="tx1"/>
                </a:solidFill>
              </a:rPr>
              <a:t>of variance in </a:t>
            </a:r>
            <a:r>
              <a:rPr lang="en-US" sz="900" dirty="0">
                <a:solidFill>
                  <a:schemeClr val="accent3"/>
                </a:solidFill>
              </a:rPr>
              <a:t>ANOVA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65BAF2-9228-A7B5-925E-CE40993F4E10}"/>
              </a:ext>
            </a:extLst>
          </p:cNvPr>
          <p:cNvSpPr txBox="1">
            <a:spLocks/>
          </p:cNvSpPr>
          <p:nvPr/>
        </p:nvSpPr>
        <p:spPr>
          <a:xfrm>
            <a:off x="4342549" y="3778070"/>
            <a:ext cx="4555433" cy="746871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All VIF values were low</a:t>
            </a:r>
            <a:r>
              <a:rPr lang="en-US" sz="900" dirty="0">
                <a:solidFill>
                  <a:schemeClr val="tx1"/>
                </a:solidFill>
              </a:rPr>
              <a:t>, indicating no multicollinearity concerns.</a:t>
            </a:r>
          </a:p>
        </p:txBody>
      </p:sp>
    </p:spTree>
    <p:extLst>
      <p:ext uri="{BB962C8B-B14F-4D97-AF65-F5344CB8AC3E}">
        <p14:creationId xmlns:p14="http://schemas.microsoft.com/office/powerpoint/2010/main" val="1142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20" grpId="0" animBg="1"/>
      <p:bldP spid="21" grpId="0" animBg="1"/>
      <p:bldP spid="22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FB1072-CA59-9180-2F01-F1AE76E54BA3}"/>
              </a:ext>
            </a:extLst>
          </p:cNvPr>
          <p:cNvSpPr/>
          <p:nvPr/>
        </p:nvSpPr>
        <p:spPr>
          <a:xfrm>
            <a:off x="539552" y="3682569"/>
            <a:ext cx="8452048" cy="8333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DBEE31-A7E5-CFF1-6BAC-C5AFDA60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6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21596-37DD-C9BD-82EE-AA021F7A364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AD600-848A-8A37-8505-4B6AF5EEE8F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sz="2000" b="1" dirty="0"/>
              <a:t>RQ1:</a:t>
            </a:r>
            <a:r>
              <a:rPr lang="ko-KR" altLang="en-US" sz="2000" b="1" dirty="0"/>
              <a:t> </a:t>
            </a:r>
            <a:r>
              <a:rPr lang="en-US" sz="2000" b="1" dirty="0"/>
              <a:t>Predictive Modeling: Linear Regression vs. </a:t>
            </a:r>
            <a:r>
              <a:rPr lang="en-US" sz="2000" b="1" dirty="0" err="1"/>
              <a:t>XGBoost</a:t>
            </a:r>
            <a:endParaRPr lang="en-US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F35C20-9DCA-32B5-AF46-C9A602D3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524" y="2231971"/>
            <a:ext cx="3177110" cy="1168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2083D1-CF39-39AE-8635-552CFCBC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6"/>
          <a:stretch/>
        </p:blipFill>
        <p:spPr>
          <a:xfrm>
            <a:off x="2457846" y="1134296"/>
            <a:ext cx="2086143" cy="1027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73BB50-801D-432E-89C4-CDE6887A76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91"/>
          <a:stretch/>
        </p:blipFill>
        <p:spPr>
          <a:xfrm>
            <a:off x="4987684" y="862632"/>
            <a:ext cx="2425309" cy="17281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185B58-4581-C5DF-8D2D-D9521123F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2744376"/>
            <a:ext cx="2336937" cy="770589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0901C0A-3137-971E-A009-68728A25F48C}"/>
              </a:ext>
            </a:extLst>
          </p:cNvPr>
          <p:cNvSpPr txBox="1">
            <a:spLocks/>
          </p:cNvSpPr>
          <p:nvPr/>
        </p:nvSpPr>
        <p:spPr>
          <a:xfrm>
            <a:off x="685800" y="3725165"/>
            <a:ext cx="8287735" cy="746871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chemeClr val="tx1"/>
                </a:solidFill>
              </a:rPr>
              <a:t>XGBoost</a:t>
            </a:r>
            <a:r>
              <a:rPr lang="en-US" altLang="ko-KR" sz="1000" dirty="0">
                <a:solidFill>
                  <a:schemeClr val="tx1"/>
                </a:solidFill>
              </a:rPr>
              <a:t> outperformed linear regression achieving </a:t>
            </a:r>
            <a:r>
              <a:rPr lang="en-US" altLang="ko-KR" sz="1000" dirty="0">
                <a:solidFill>
                  <a:schemeClr val="accent3"/>
                </a:solidFill>
              </a:rPr>
              <a:t>higher accuracy (R² = 0.715 vs. 0.591)</a:t>
            </a:r>
            <a:r>
              <a:rPr lang="en-US" altLang="ko-KR" sz="1000" dirty="0">
                <a:solidFill>
                  <a:schemeClr val="tx1"/>
                </a:solidFill>
              </a:rPr>
              <a:t> and </a:t>
            </a:r>
            <a:r>
              <a:rPr lang="en-US" altLang="ko-KR" sz="1000" dirty="0">
                <a:solidFill>
                  <a:schemeClr val="accent3"/>
                </a:solidFill>
              </a:rPr>
              <a:t>lower RMSE (0.95 vs. 1.14).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accent3"/>
                </a:solidFill>
              </a:rPr>
              <a:t>Prescription costs (</a:t>
            </a:r>
            <a:r>
              <a:rPr lang="en-US" altLang="ko-KR" sz="1000" dirty="0" err="1">
                <a:solidFill>
                  <a:schemeClr val="accent3"/>
                </a:solidFill>
              </a:rPr>
              <a:t>log_rx</a:t>
            </a:r>
            <a:r>
              <a:rPr lang="en-US" altLang="ko-KR" sz="1000" dirty="0">
                <a:solidFill>
                  <a:schemeClr val="accent3"/>
                </a:solidFill>
              </a:rPr>
              <a:t>) were consistently the most predictive feature</a:t>
            </a:r>
            <a:r>
              <a:rPr lang="en-US" altLang="ko-KR" sz="1000" dirty="0">
                <a:solidFill>
                  <a:schemeClr val="tx1"/>
                </a:solidFill>
              </a:rPr>
              <a:t> in the </a:t>
            </a:r>
            <a:r>
              <a:rPr lang="en-US" altLang="ko-KR" sz="1000" dirty="0" err="1">
                <a:solidFill>
                  <a:schemeClr val="tx1"/>
                </a:solidFill>
              </a:rPr>
              <a:t>XGBoost</a:t>
            </a:r>
            <a:r>
              <a:rPr lang="en-US" altLang="ko-KR" sz="1000" dirty="0">
                <a:solidFill>
                  <a:schemeClr val="tx1"/>
                </a:solidFill>
              </a:rPr>
              <a:t> model,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highlighting their strong influence across the population.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1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49DBB-4F67-68B0-D2EE-E68E161E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7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82369-8D8E-F91E-5C92-66DEAD5AA5F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82B594-55C7-F097-F97C-1AE677A2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RQ1: Interpretation &amp; Policy Implication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B69B9D-7E02-1461-4935-F9072FB230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C0905-06DC-6851-B1FA-F45600C8A7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5798" y="1068212"/>
            <a:ext cx="8000999" cy="870180"/>
          </a:xfrm>
          <a:solidFill>
            <a:schemeClr val="bg1"/>
          </a:solidFill>
          <a:ln>
            <a:solidFill>
              <a:schemeClr val="accent3"/>
            </a:solidFill>
          </a:ln>
        </p:spPr>
        <p:txBody>
          <a:bodyPr/>
          <a:lstStyle/>
          <a:p>
            <a:pPr marL="285750" indent="-285750" algn="l">
              <a:buFontTx/>
              <a:buChar char="-"/>
            </a:pPr>
            <a:endParaRPr lang="en-US" sz="400" dirty="0">
              <a:solidFill>
                <a:schemeClr val="tx1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Prescription drugs, inpatient care, and office-based visits are key cost drivers in U.S. healthcare.</a:t>
            </a:r>
          </a:p>
          <a:p>
            <a:pPr marL="285750" indent="-285750" algn="l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Drugs are costly and widely used, while inpatient care is rare but expensive per case.</a:t>
            </a:r>
          </a:p>
          <a:p>
            <a:pPr marL="285750" indent="-285750" algn="l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Office visits are low-cost but drive spending due to high frequency.</a:t>
            </a:r>
          </a:p>
          <a:p>
            <a:pPr marL="285750" indent="-285750" algn="l">
              <a:buFontTx/>
              <a:buChar char="-"/>
            </a:pPr>
            <a:endParaRPr lang="en-US" sz="400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E2E55E2-441A-3AEE-84E4-DADD58E4A355}"/>
              </a:ext>
            </a:extLst>
          </p:cNvPr>
          <p:cNvSpPr txBox="1">
            <a:spLocks/>
          </p:cNvSpPr>
          <p:nvPr/>
        </p:nvSpPr>
        <p:spPr>
          <a:xfrm>
            <a:off x="3916559" y="2017766"/>
            <a:ext cx="1303513" cy="292650"/>
          </a:xfrm>
          <a:prstGeom prst="down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Tx/>
              <a:buChar char="-"/>
            </a:pPr>
            <a:endParaRPr lang="en-US" sz="400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D471091-C2AC-66AA-9773-BECEF1D87677}"/>
              </a:ext>
            </a:extLst>
          </p:cNvPr>
          <p:cNvSpPr txBox="1">
            <a:spLocks/>
          </p:cNvSpPr>
          <p:nvPr/>
        </p:nvSpPr>
        <p:spPr>
          <a:xfrm>
            <a:off x="679535" y="2387395"/>
            <a:ext cx="8000999" cy="54899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</a:rPr>
              <a:t>Cost-control strategies must target both high-frequency, low-cost services and low-frequency, high-cost events.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53C3AA-D02A-CF84-F05A-58DF494D43D9}"/>
              </a:ext>
            </a:extLst>
          </p:cNvPr>
          <p:cNvSpPr txBox="1">
            <a:spLocks/>
          </p:cNvSpPr>
          <p:nvPr/>
        </p:nvSpPr>
        <p:spPr>
          <a:xfrm>
            <a:off x="3916559" y="3013367"/>
            <a:ext cx="1310881" cy="291600"/>
          </a:xfrm>
          <a:prstGeom prst="downArrow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Tx/>
              <a:buChar char="-"/>
            </a:pPr>
            <a:endParaRPr lang="en-US" sz="400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A3A0495-8D4D-5741-FB80-32B265FFF6D4}"/>
              </a:ext>
            </a:extLst>
          </p:cNvPr>
          <p:cNvSpPr txBox="1">
            <a:spLocks/>
          </p:cNvSpPr>
          <p:nvPr/>
        </p:nvSpPr>
        <p:spPr>
          <a:xfrm>
            <a:off x="679535" y="3375707"/>
            <a:ext cx="8000999" cy="548993"/>
          </a:xfrm>
          <a:prstGeom prst="rect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Could managing chronic conditions and identifying at-risk individuals early help reduce overall healthcare costs?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E34396-E5FD-9B4D-4E54-912E7847E18E}"/>
              </a:ext>
            </a:extLst>
          </p:cNvPr>
          <p:cNvSpPr txBox="1">
            <a:spLocks/>
          </p:cNvSpPr>
          <p:nvPr/>
        </p:nvSpPr>
        <p:spPr>
          <a:xfrm>
            <a:off x="5234540" y="4201393"/>
            <a:ext cx="576064" cy="548992"/>
          </a:xfrm>
          <a:prstGeom prst="ellipse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Q2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D25287B-28E9-7CA4-4519-AD68FB123ECD}"/>
              </a:ext>
            </a:extLst>
          </p:cNvPr>
          <p:cNvSpPr txBox="1">
            <a:spLocks/>
          </p:cNvSpPr>
          <p:nvPr/>
        </p:nvSpPr>
        <p:spPr>
          <a:xfrm>
            <a:off x="5886805" y="4196668"/>
            <a:ext cx="576064" cy="548992"/>
          </a:xfrm>
          <a:prstGeom prst="ellipse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Q3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A4CA43F-B2E4-5F4D-207E-6A0A4989FCCE}"/>
              </a:ext>
            </a:extLst>
          </p:cNvPr>
          <p:cNvSpPr txBox="1">
            <a:spLocks/>
          </p:cNvSpPr>
          <p:nvPr/>
        </p:nvSpPr>
        <p:spPr>
          <a:xfrm rot="18378864">
            <a:off x="4585718" y="3962121"/>
            <a:ext cx="308972" cy="905327"/>
          </a:xfrm>
          <a:prstGeom prst="curvedRightArrow">
            <a:avLst>
              <a:gd name="adj1" fmla="val 31053"/>
              <a:gd name="adj2" fmla="val 95478"/>
              <a:gd name="adj3" fmla="val 25000"/>
            </a:avLst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0522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DFAE-0BE7-1797-41DC-8EDA983C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326F6-6463-80D1-3EDC-50F230A2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8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72C62-7A9F-3560-E613-6C8A894FD92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EA5C7-35D5-BA78-AF20-03C2F40351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RQ2: Who is at risk of chronic illness?</a:t>
            </a:r>
            <a:endParaRPr lang="en-US" dirty="0"/>
          </a:p>
        </p:txBody>
      </p:sp>
      <p:graphicFrame>
        <p:nvGraphicFramePr>
          <p:cNvPr id="12" name="Content Placeholder 31">
            <a:extLst>
              <a:ext uri="{FF2B5EF4-FFF2-40B4-BE49-F238E27FC236}">
                <a16:creationId xmlns:a16="http://schemas.microsoft.com/office/drawing/2014/main" id="{62DE3224-3654-5C16-2893-36A86484C811}"/>
              </a:ext>
            </a:extLst>
          </p:cNvPr>
          <p:cNvGraphicFramePr>
            <a:graphicFrameLocks noGrp="1"/>
          </p:cNvGraphicFramePr>
          <p:nvPr>
            <p:ph sz="quarter" idx="34"/>
            <p:extLst>
              <p:ext uri="{D42A27DB-BD31-4B8C-83A1-F6EECF244321}">
                <p14:modId xmlns:p14="http://schemas.microsoft.com/office/powerpoint/2010/main" val="1589506559"/>
              </p:ext>
            </p:extLst>
          </p:nvPr>
        </p:nvGraphicFramePr>
        <p:xfrm>
          <a:off x="685800" y="943458"/>
          <a:ext cx="7918648" cy="1607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21229">
                  <a:extLst>
                    <a:ext uri="{9D8B030D-6E8A-4147-A177-3AD203B41FA5}">
                      <a16:colId xmlns:a16="http://schemas.microsoft.com/office/drawing/2014/main" val="2027265837"/>
                    </a:ext>
                  </a:extLst>
                </a:gridCol>
                <a:gridCol w="5697419">
                  <a:extLst>
                    <a:ext uri="{9D8B030D-6E8A-4147-A177-3AD203B41FA5}">
                      <a16:colId xmlns:a16="http://schemas.microsoft.com/office/drawing/2014/main" val="504335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Dependent Variable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 binary indicator (CHRONIC) representing whether an individual had at least one of the following chronic conditions: </a:t>
                      </a:r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eorgia" panose="02040502050405020303" pitchFamily="18" charset="0"/>
                        </a:rPr>
                        <a:t>High Blood Pressure(HIBPDX</a:t>
                      </a:r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eorgia" panose="02040502050405020303" pitchFamily="18" charset="0"/>
                          <a:sym typeface="Wingdings" pitchFamily="2" charset="2"/>
                        </a:rPr>
                        <a:t>)</a:t>
                      </a:r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eorgia" panose="02040502050405020303" pitchFamily="18" charset="0"/>
                        </a:rPr>
                        <a:t> / Coronary Heart Disease(CHDDX) / Arthritis(ARTHDX) / Diabetes(DIABDX M18</a:t>
                      </a:r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eorgia" panose="02040502050405020303" pitchFamily="18" charset="0"/>
                          <a:sym typeface="Wingdings" pitchFamily="2" charset="2"/>
                        </a:rPr>
                        <a:t>)</a:t>
                      </a:r>
                      <a:endParaRPr lang="en-US" sz="13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07011"/>
                  </a:ext>
                </a:extLst>
              </a:tr>
              <a:tr h="3692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kern="1200" dirty="0">
                          <a:solidFill>
                            <a:schemeClr val="lt1"/>
                          </a:solidFill>
                          <a:latin typeface="Georgia" panose="02040502050405020303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Independent Variables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Family Size (FCSZ1231), Census Region (REGION20: Northeast=1, Midwest=2, South=3, West=4), Age (AGE20X), Sex (SEX), Race (RACEV2X)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93023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12879E8A-CB53-B5F0-A0F6-F869C3E69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79" y="2897424"/>
            <a:ext cx="1251563" cy="14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830A191-ADF9-CBD2-DB15-3616B6232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45" y="2901308"/>
            <a:ext cx="1268709" cy="144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36DE338-B23F-288C-EE26-88E736C7E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457" y="2893540"/>
            <a:ext cx="1302573" cy="14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B33E008-D7E9-5C3B-FB32-048FA0D14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2889348"/>
            <a:ext cx="1260357" cy="144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E8DF96-60D3-1AB8-7F18-D940B72A8A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288" y="2889348"/>
            <a:ext cx="1192411" cy="1440000"/>
          </a:xfrm>
          <a:prstGeom prst="rect">
            <a:avLst/>
          </a:prstGeom>
        </p:spPr>
      </p:pic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7EE49D8D-157B-FDF7-3A95-1A27919B092E}"/>
              </a:ext>
            </a:extLst>
          </p:cNvPr>
          <p:cNvSpPr txBox="1">
            <a:spLocks/>
          </p:cNvSpPr>
          <p:nvPr/>
        </p:nvSpPr>
        <p:spPr>
          <a:xfrm>
            <a:off x="685800" y="2787774"/>
            <a:ext cx="5686400" cy="16561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900" b="0" i="0" kern="1200" baseline="0">
                <a:solidFill>
                  <a:srgbClr val="C00000"/>
                </a:solidFill>
                <a:latin typeface="Effra" panose="020B0603020203020204" pitchFamily="34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400" dirty="0">
              <a:solidFill>
                <a:schemeClr val="tx1"/>
              </a:solidFill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CA318B0-423E-34C0-28CF-71CF8067BDA7}"/>
              </a:ext>
            </a:extLst>
          </p:cNvPr>
          <p:cNvSpPr txBox="1">
            <a:spLocks/>
          </p:cNvSpPr>
          <p:nvPr/>
        </p:nvSpPr>
        <p:spPr>
          <a:xfrm rot="16200000">
            <a:off x="6491647" y="3289837"/>
            <a:ext cx="500071" cy="504056"/>
          </a:xfrm>
          <a:prstGeom prst="downArrow">
            <a:avLst/>
          </a:prstGeom>
          <a:gradFill>
            <a:gsLst>
              <a:gs pos="9000">
                <a:schemeClr val="accent3"/>
              </a:gs>
              <a:gs pos="55000">
                <a:srgbClr val="C00000"/>
              </a:gs>
              <a:gs pos="99000">
                <a:srgbClr val="FF0000"/>
              </a:gs>
            </a:gsLst>
            <a:lin ang="5400000" scaled="1"/>
          </a:gradFill>
        </p:spPr>
        <p:txBody>
          <a:bodyPr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b="0" i="0" kern="1200" baseline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Tx/>
              <a:buChar char="-"/>
            </a:pPr>
            <a:endParaRPr lang="en-US" sz="400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578A71F-343E-1879-A417-9BB070130995}"/>
              </a:ext>
            </a:extLst>
          </p:cNvPr>
          <p:cNvSpPr txBox="1">
            <a:spLocks/>
          </p:cNvSpPr>
          <p:nvPr/>
        </p:nvSpPr>
        <p:spPr>
          <a:xfrm>
            <a:off x="7069354" y="2787774"/>
            <a:ext cx="1463086" cy="165618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900" b="0" i="0" kern="1200" baseline="0">
                <a:solidFill>
                  <a:srgbClr val="C00000"/>
                </a:solidFill>
                <a:latin typeface="Effra" panose="020B0603020203020204" pitchFamily="34" charset="0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Effra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41E4-0299-BFCA-7A06-BA37666B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19953BE-BF0C-EBD6-AEB2-08476677C0F7}"/>
              </a:ext>
            </a:extLst>
          </p:cNvPr>
          <p:cNvSpPr/>
          <p:nvPr/>
        </p:nvSpPr>
        <p:spPr>
          <a:xfrm>
            <a:off x="4503439" y="1159281"/>
            <a:ext cx="4389041" cy="2880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B18C6A-D01C-A595-ED5C-06E51E11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9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12C77-A826-57F6-7880-97AC596715E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792CA-F5C7-E53B-61F9-9469589D073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RQ2: Logistic Regression &amp; Random Forest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B4E1D4-9FA1-9557-21E4-5F3B5552E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7574"/>
            <a:ext cx="3327070" cy="3355865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5832BB2-8198-FCC6-6FB5-08EC98E3FD3F}"/>
              </a:ext>
            </a:extLst>
          </p:cNvPr>
          <p:cNvSpPr txBox="1">
            <a:spLocks/>
          </p:cNvSpPr>
          <p:nvPr/>
        </p:nvSpPr>
        <p:spPr>
          <a:xfrm>
            <a:off x="4656584" y="1131590"/>
            <a:ext cx="4030216" cy="288032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C00000"/>
                </a:solidFill>
              </a:rPr>
              <a:t>Age</a:t>
            </a:r>
            <a:r>
              <a:rPr lang="en-US" altLang="ko-KR" sz="1200" dirty="0">
                <a:solidFill>
                  <a:schemeClr val="tx1"/>
                </a:solidFill>
              </a:rPr>
              <a:t>: Strongest predictor — chronic disease risk increases with age.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C00000"/>
                </a:solidFill>
              </a:rPr>
              <a:t>Family Size</a:t>
            </a:r>
            <a:r>
              <a:rPr lang="en-US" altLang="ko-KR" sz="1200" dirty="0">
                <a:solidFill>
                  <a:schemeClr val="tx1"/>
                </a:solidFill>
              </a:rPr>
              <a:t>: Inversely associated — larger households linked to lower risk.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C00000"/>
                </a:solidFill>
              </a:rPr>
              <a:t>Sex</a:t>
            </a:r>
            <a:r>
              <a:rPr lang="en-US" altLang="ko-KR" sz="1200" dirty="0">
                <a:solidFill>
                  <a:schemeClr val="tx1"/>
                </a:solidFill>
              </a:rPr>
              <a:t>: No significant association with chronic illness.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C00000"/>
                </a:solidFill>
              </a:rPr>
              <a:t>Conclusion: Age and family </a:t>
            </a:r>
            <a:r>
              <a:rPr lang="en-US" altLang="ko-KR" sz="1200" dirty="0">
                <a:solidFill>
                  <a:schemeClr val="tx1"/>
                </a:solidFill>
              </a:rPr>
              <a:t>structure are key demographic risk factors.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AF4B4-DFA2-41C8-FC02-21DFFD5FEC20}"/>
              </a:ext>
            </a:extLst>
          </p:cNvPr>
          <p:cNvSpPr/>
          <p:nvPr/>
        </p:nvSpPr>
        <p:spPr>
          <a:xfrm>
            <a:off x="3330000" y="1526400"/>
            <a:ext cx="399600" cy="18129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FDCDA-86A9-087B-DB2F-5692EF53098C}"/>
              </a:ext>
            </a:extLst>
          </p:cNvPr>
          <p:cNvSpPr/>
          <p:nvPr/>
        </p:nvSpPr>
        <p:spPr>
          <a:xfrm>
            <a:off x="3330000" y="2481105"/>
            <a:ext cx="399600" cy="18129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06A802-FBCF-5532-572E-83A1B53BA045}"/>
              </a:ext>
            </a:extLst>
          </p:cNvPr>
          <p:cNvSpPr/>
          <p:nvPr/>
        </p:nvSpPr>
        <p:spPr>
          <a:xfrm>
            <a:off x="3330000" y="2299815"/>
            <a:ext cx="399600" cy="18129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A4F2D2-BF1F-A1E4-2742-F2F5F00842FB}"/>
              </a:ext>
            </a:extLst>
          </p:cNvPr>
          <p:cNvSpPr/>
          <p:nvPr/>
        </p:nvSpPr>
        <p:spPr>
          <a:xfrm>
            <a:off x="1774800" y="1526400"/>
            <a:ext cx="399600" cy="18129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55EA48-4CDF-EB84-B68B-8DB457066552}"/>
              </a:ext>
            </a:extLst>
          </p:cNvPr>
          <p:cNvSpPr/>
          <p:nvPr/>
        </p:nvSpPr>
        <p:spPr>
          <a:xfrm>
            <a:off x="1774800" y="2481105"/>
            <a:ext cx="399600" cy="18129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4E8BFC-D97C-BFB6-34FC-D2FAD8811BF5}"/>
              </a:ext>
            </a:extLst>
          </p:cNvPr>
          <p:cNvSpPr/>
          <p:nvPr/>
        </p:nvSpPr>
        <p:spPr>
          <a:xfrm>
            <a:off x="1774800" y="2299815"/>
            <a:ext cx="399600" cy="18129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3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  <p:bldP spid="15" grpId="1" animBg="1"/>
      <p:bldP spid="16" grpId="1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87FA-E9BE-2650-E21A-15E52FEB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214CE0-C5EA-04CC-494E-C40DA282C1E3}"/>
              </a:ext>
            </a:extLst>
          </p:cNvPr>
          <p:cNvSpPr/>
          <p:nvPr/>
        </p:nvSpPr>
        <p:spPr>
          <a:xfrm>
            <a:off x="4503439" y="1419622"/>
            <a:ext cx="4389041" cy="2304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FFB694-15B0-1168-E54C-47634689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10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A3F14-D251-59BA-957E-5A98F668C1F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65863-03BD-29D0-C88E-AA1AF7758C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RQ2: Key Findings and Implications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3E0A80-E4C7-5DDA-1E72-E7482EC3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905802"/>
            <a:ext cx="3384376" cy="21705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07CA92-013B-BEA2-FB94-B4169B206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228086"/>
            <a:ext cx="3384377" cy="1306908"/>
          </a:xfrm>
          <a:prstGeom prst="rect">
            <a:avLst/>
          </a:prstGeom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B0AB0AC-EA0D-C882-FCD8-464B3862ACAC}"/>
              </a:ext>
            </a:extLst>
          </p:cNvPr>
          <p:cNvSpPr txBox="1">
            <a:spLocks/>
          </p:cNvSpPr>
          <p:nvPr/>
        </p:nvSpPr>
        <p:spPr>
          <a:xfrm>
            <a:off x="4656584" y="1131590"/>
            <a:ext cx="4030216" cy="288032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The Main Key Factor: </a:t>
            </a:r>
            <a:r>
              <a:rPr lang="en-US" altLang="ko-KR" sz="1200" dirty="0">
                <a:solidFill>
                  <a:schemeClr val="accent3"/>
                </a:solidFill>
              </a:rPr>
              <a:t>Age, Family Size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accent3"/>
                </a:solidFill>
              </a:rPr>
              <a:t>Demographic screening</a:t>
            </a:r>
            <a:r>
              <a:rPr lang="en-US" altLang="ko-KR" sz="1200" dirty="0">
                <a:solidFill>
                  <a:schemeClr val="tx1"/>
                </a:solidFill>
              </a:rPr>
              <a:t> can help identify high-risk groups before conditions worsen 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Strategic prevention reduces long-term costs and improves overall quality of care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3360AB-44B3-463C-4CDD-0403558D4C22}"/>
              </a:ext>
            </a:extLst>
          </p:cNvPr>
          <p:cNvSpPr/>
          <p:nvPr/>
        </p:nvSpPr>
        <p:spPr>
          <a:xfrm>
            <a:off x="806281" y="1059582"/>
            <a:ext cx="3491478" cy="576064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31CF-B13D-A861-8CBC-AADDCCE9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99C71A-3102-AFA0-57A7-7615623B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11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54D9C5-8CFD-581B-D4E5-3FB64653F52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75B87-58D0-3D1D-64C3-DFE0D7933C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RQ3: Behavioral Patterns &amp; Mental Health</a:t>
            </a:r>
            <a:endParaRPr lang="en-US" dirty="0"/>
          </a:p>
        </p:txBody>
      </p:sp>
      <p:graphicFrame>
        <p:nvGraphicFramePr>
          <p:cNvPr id="9" name="Content Placeholder 31">
            <a:extLst>
              <a:ext uri="{FF2B5EF4-FFF2-40B4-BE49-F238E27FC236}">
                <a16:creationId xmlns:a16="http://schemas.microsoft.com/office/drawing/2014/main" id="{6D2D1F0A-0A9D-1240-67A4-29FAA55D61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6277920"/>
              </p:ext>
            </p:extLst>
          </p:nvPr>
        </p:nvGraphicFramePr>
        <p:xfrm>
          <a:off x="685800" y="943458"/>
          <a:ext cx="7918648" cy="1285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21229">
                  <a:extLst>
                    <a:ext uri="{9D8B030D-6E8A-4147-A177-3AD203B41FA5}">
                      <a16:colId xmlns:a16="http://schemas.microsoft.com/office/drawing/2014/main" val="2027265837"/>
                    </a:ext>
                  </a:extLst>
                </a:gridCol>
                <a:gridCol w="5697419">
                  <a:extLst>
                    <a:ext uri="{9D8B030D-6E8A-4147-A177-3AD203B41FA5}">
                      <a16:colId xmlns:a16="http://schemas.microsoft.com/office/drawing/2014/main" val="504335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Dependent Variable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Psychological Distress (K6SUM42)</a:t>
                      </a:r>
                      <a:endParaRPr lang="en-US" sz="12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07011"/>
                  </a:ext>
                </a:extLst>
              </a:tr>
              <a:tr h="3692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kern="1200" dirty="0">
                          <a:solidFill>
                            <a:schemeClr val="lt1"/>
                          </a:solidFill>
                          <a:latin typeface="Georgia" panose="02040502050405020303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Independent Variables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Sleep Disturbance (ADSLEEP42), Physical Activity (PHYEXE53), Smoking Frequency (OFTSMK53), Alcohol Use (ADKALC42, ADNUMDRK42), Doctor’s Advice Against Smoking (NOSMOK42)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93023"/>
                  </a:ext>
                </a:extLst>
              </a:tr>
            </a:tbl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60AC493-4A6B-C684-59E9-AEA9BDC5DF4F}"/>
              </a:ext>
            </a:extLst>
          </p:cNvPr>
          <p:cNvSpPr txBox="1">
            <a:spLocks/>
          </p:cNvSpPr>
          <p:nvPr/>
        </p:nvSpPr>
        <p:spPr>
          <a:xfrm>
            <a:off x="685800" y="2499742"/>
            <a:ext cx="8287735" cy="175627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>
                <a:solidFill>
                  <a:schemeClr val="tx1"/>
                </a:solidFill>
              </a:rPr>
              <a:t>This analysis explores the relationship between lifestyle factors, health behaviors, and psychological distress through multiple analytical approaches:</a:t>
            </a:r>
          </a:p>
          <a:p>
            <a:pPr algn="l"/>
            <a:endParaRPr lang="en-US" sz="1000" dirty="0">
              <a:solidFill>
                <a:schemeClr val="tx1"/>
              </a:solidFill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sz="1000" dirty="0">
                <a:solidFill>
                  <a:schemeClr val="accent3"/>
                </a:solidFill>
              </a:rPr>
              <a:t>Principal Component Analysis (PCA)</a:t>
            </a:r>
            <a:r>
              <a:rPr lang="en-US" sz="1000" dirty="0">
                <a:solidFill>
                  <a:schemeClr val="tx1"/>
                </a:solidFill>
              </a:rPr>
              <a:t> to identify underlying patterns in lifestyle behaviors (excluding the outcome variable)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000" dirty="0">
                <a:solidFill>
                  <a:schemeClr val="accent3"/>
                </a:solidFill>
              </a:rPr>
              <a:t>Cluster analysis to </a:t>
            </a:r>
            <a:r>
              <a:rPr lang="en-US" sz="1000" dirty="0">
                <a:solidFill>
                  <a:schemeClr val="tx1"/>
                </a:solidFill>
              </a:rPr>
              <a:t>identify distinct lifestyle pattern groups among individuals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000" dirty="0">
                <a:solidFill>
                  <a:schemeClr val="accent3"/>
                </a:solidFill>
              </a:rPr>
              <a:t>Regression modeling</a:t>
            </a:r>
            <a:r>
              <a:rPr lang="en-US" sz="1000" dirty="0">
                <a:solidFill>
                  <a:schemeClr val="tx1"/>
                </a:solidFill>
              </a:rPr>
              <a:t> to examine how these lifestyle patterns predict psychological distress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000" dirty="0">
                <a:solidFill>
                  <a:schemeClr val="accent3"/>
                </a:solidFill>
              </a:rPr>
              <a:t>Classification methods</a:t>
            </a:r>
            <a:r>
              <a:rPr lang="en-US" sz="1000" dirty="0">
                <a:solidFill>
                  <a:schemeClr val="tx1"/>
                </a:solidFill>
              </a:rPr>
              <a:t> to identify individuals at risk for high psychological distress</a:t>
            </a:r>
          </a:p>
        </p:txBody>
      </p:sp>
    </p:spTree>
    <p:extLst>
      <p:ext uri="{BB962C8B-B14F-4D97-AF65-F5344CB8AC3E}">
        <p14:creationId xmlns:p14="http://schemas.microsoft.com/office/powerpoint/2010/main" val="480637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7CF99-EE00-FE5C-82EE-009397BDD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238BE78-95F1-2C87-8EFB-F92EE5B4A107}"/>
              </a:ext>
            </a:extLst>
          </p:cNvPr>
          <p:cNvSpPr/>
          <p:nvPr/>
        </p:nvSpPr>
        <p:spPr>
          <a:xfrm>
            <a:off x="5248687" y="2499742"/>
            <a:ext cx="3643793" cy="21838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A40828-B3CE-307A-BBBF-D66E545B3DD9}"/>
              </a:ext>
            </a:extLst>
          </p:cNvPr>
          <p:cNvSpPr/>
          <p:nvPr/>
        </p:nvSpPr>
        <p:spPr>
          <a:xfrm>
            <a:off x="5248688" y="584798"/>
            <a:ext cx="3643792" cy="1712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4A9B79-DE40-51BC-7874-8591A309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12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ED23E-9C27-4689-F2B0-FDF24982B71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DEB36-3E6B-8D1C-316E-347C492B02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RQ3: PCA &amp; Clustering</a:t>
            </a:r>
            <a:endParaRPr lang="en-US" dirty="0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4483E0EA-CFFA-3A91-A205-988718C64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8830" y="847452"/>
            <a:ext cx="1954819" cy="17279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A39385-9544-D9BC-87F7-67573E465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5905" y="764254"/>
            <a:ext cx="2366598" cy="1973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E66633-9FBB-B876-76C1-315F0A0580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952" y="2719414"/>
            <a:ext cx="2172156" cy="1808603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40F1920-346D-67E2-26B8-060C2B4956C9}"/>
              </a:ext>
            </a:extLst>
          </p:cNvPr>
          <p:cNvSpPr txBox="1">
            <a:spLocks/>
          </p:cNvSpPr>
          <p:nvPr/>
        </p:nvSpPr>
        <p:spPr>
          <a:xfrm>
            <a:off x="5447209" y="760606"/>
            <a:ext cx="3343469" cy="130217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accent3"/>
                </a:solidFill>
              </a:rPr>
              <a:t>The PCA </a:t>
            </a:r>
            <a:r>
              <a:rPr lang="en-US" altLang="ko-KR" sz="1200" dirty="0">
                <a:solidFill>
                  <a:schemeClr val="tx1"/>
                </a:solidFill>
              </a:rPr>
              <a:t>identified three main lifestyle dimensions: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accent3"/>
                </a:solidFill>
              </a:rPr>
              <a:t>Substance Use</a:t>
            </a:r>
            <a:r>
              <a:rPr lang="ko-KR" altLang="en-US" sz="1200" dirty="0">
                <a:solidFill>
                  <a:schemeClr val="accent3"/>
                </a:solidFill>
              </a:rPr>
              <a:t> </a:t>
            </a:r>
            <a:r>
              <a:rPr lang="en-US" altLang="ko-KR" sz="1200" dirty="0">
                <a:solidFill>
                  <a:schemeClr val="accent3"/>
                </a:solidFill>
              </a:rPr>
              <a:t>/</a:t>
            </a:r>
            <a:r>
              <a:rPr lang="ko-KR" altLang="en-US" sz="1200" dirty="0">
                <a:solidFill>
                  <a:schemeClr val="accent3"/>
                </a:solidFill>
              </a:rPr>
              <a:t> </a:t>
            </a:r>
            <a:r>
              <a:rPr lang="en-US" altLang="ko-KR" sz="1200" dirty="0">
                <a:solidFill>
                  <a:schemeClr val="accent3"/>
                </a:solidFill>
              </a:rPr>
              <a:t>Activity Level</a:t>
            </a:r>
            <a:r>
              <a:rPr lang="ko-KR" altLang="en-US" sz="1200" dirty="0">
                <a:solidFill>
                  <a:schemeClr val="accent3"/>
                </a:solidFill>
              </a:rPr>
              <a:t> </a:t>
            </a:r>
            <a:r>
              <a:rPr lang="en-US" altLang="ko-KR" sz="1200" dirty="0">
                <a:solidFill>
                  <a:schemeClr val="accent3"/>
                </a:solidFill>
              </a:rPr>
              <a:t>/</a:t>
            </a:r>
            <a:r>
              <a:rPr lang="ko-KR" altLang="en-US" sz="1200" dirty="0">
                <a:solidFill>
                  <a:schemeClr val="accent3"/>
                </a:solidFill>
              </a:rPr>
              <a:t> </a:t>
            </a:r>
            <a:r>
              <a:rPr lang="en-US" altLang="ko-KR" sz="1200" dirty="0">
                <a:solidFill>
                  <a:schemeClr val="accent3"/>
                </a:solidFill>
              </a:rPr>
              <a:t>Sleep Patterns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Together, they explain ~65% of the variance, highlighting major behavioral trends 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F73AD82-6CFF-853B-060C-02F69F33AC6A}"/>
              </a:ext>
            </a:extLst>
          </p:cNvPr>
          <p:cNvSpPr txBox="1">
            <a:spLocks/>
          </p:cNvSpPr>
          <p:nvPr/>
        </p:nvSpPr>
        <p:spPr>
          <a:xfrm>
            <a:off x="5430164" y="2808683"/>
            <a:ext cx="3462316" cy="130217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accent3"/>
                </a:solidFill>
              </a:rPr>
              <a:t>K-means clustering</a:t>
            </a:r>
            <a:r>
              <a:rPr lang="en-US" altLang="ko-KR" sz="1200" dirty="0">
                <a:solidFill>
                  <a:schemeClr val="tx1"/>
                </a:solidFill>
              </a:rPr>
              <a:t> identified four distinct lifestyle profiles: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ANOVA results confirm significant differences in psychological distress levels across these clusters.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1CBACF6-6FD9-87E6-49B1-E834B1A796B3}"/>
              </a:ext>
            </a:extLst>
          </p:cNvPr>
          <p:cNvSpPr txBox="1">
            <a:spLocks/>
          </p:cNvSpPr>
          <p:nvPr/>
        </p:nvSpPr>
        <p:spPr>
          <a:xfrm>
            <a:off x="5590477" y="3069772"/>
            <a:ext cx="3233971" cy="75438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altLang="ko-KR" sz="1050" dirty="0">
                <a:solidFill>
                  <a:schemeClr val="accent3"/>
                </a:solidFill>
              </a:rPr>
              <a:t>Active</a:t>
            </a:r>
            <a:r>
              <a:rPr lang="en-US" altLang="ko-KR" sz="1050" dirty="0">
                <a:solidFill>
                  <a:schemeClr val="tx1"/>
                </a:solidFill>
              </a:rPr>
              <a:t>, Low Substance Use Cluster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altLang="ko-KR" sz="1050" dirty="0">
                <a:solidFill>
                  <a:schemeClr val="accent3"/>
                </a:solidFill>
              </a:rPr>
              <a:t>Sedentary</a:t>
            </a:r>
            <a:r>
              <a:rPr lang="en-US" altLang="ko-KR" sz="1050" dirty="0">
                <a:solidFill>
                  <a:schemeClr val="tx1"/>
                </a:solidFill>
              </a:rPr>
              <a:t>, Moderate Substance Use Cluster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altLang="ko-KR" sz="1050" dirty="0">
                <a:solidFill>
                  <a:schemeClr val="accent3"/>
                </a:solidFill>
              </a:rPr>
              <a:t>Heavy Substance </a:t>
            </a:r>
            <a:r>
              <a:rPr lang="en-US" altLang="ko-KR" sz="1050" dirty="0">
                <a:solidFill>
                  <a:schemeClr val="tx1"/>
                </a:solidFill>
              </a:rPr>
              <a:t>Users Cluster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altLang="ko-KR" sz="1050" dirty="0">
                <a:solidFill>
                  <a:schemeClr val="accent3"/>
                </a:solidFill>
              </a:rPr>
              <a:t>Poor Sleep Quality </a:t>
            </a:r>
            <a:r>
              <a:rPr lang="en-US" altLang="ko-KR" sz="1050" dirty="0">
                <a:solidFill>
                  <a:schemeClr val="tx1"/>
                </a:solidFill>
              </a:rPr>
              <a:t>Cluster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A90A5E-3E65-95AE-7B52-1D5B21870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800" y="3467588"/>
            <a:ext cx="2236736" cy="31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49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A689-D0FD-A429-6461-4FD0C99C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02250A-5120-271A-1841-E53F06FD2F0B}"/>
              </a:ext>
            </a:extLst>
          </p:cNvPr>
          <p:cNvSpPr/>
          <p:nvPr/>
        </p:nvSpPr>
        <p:spPr>
          <a:xfrm>
            <a:off x="539552" y="3291830"/>
            <a:ext cx="8452048" cy="1224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30538-3C49-68D3-59D5-1CAEC9D0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13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E3D41-995E-DD27-2667-47C7197DE34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9F6DD-33E3-EF09-2582-75D9CB6F69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RQ3: Predictive Modeling Performance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447E74-1D2B-6E14-33E9-85C525A6A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837172"/>
              </p:ext>
            </p:extLst>
          </p:nvPr>
        </p:nvGraphicFramePr>
        <p:xfrm>
          <a:off x="579006" y="1275606"/>
          <a:ext cx="5289138" cy="1234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61626">
                  <a:extLst>
                    <a:ext uri="{9D8B030D-6E8A-4147-A177-3AD203B41FA5}">
                      <a16:colId xmlns:a16="http://schemas.microsoft.com/office/drawing/2014/main" val="3591298915"/>
                    </a:ext>
                  </a:extLst>
                </a:gridCol>
                <a:gridCol w="956878">
                  <a:extLst>
                    <a:ext uri="{9D8B030D-6E8A-4147-A177-3AD203B41FA5}">
                      <a16:colId xmlns:a16="http://schemas.microsoft.com/office/drawing/2014/main" val="1981617295"/>
                    </a:ext>
                  </a:extLst>
                </a:gridCol>
                <a:gridCol w="956878">
                  <a:extLst>
                    <a:ext uri="{9D8B030D-6E8A-4147-A177-3AD203B41FA5}">
                      <a16:colId xmlns:a16="http://schemas.microsoft.com/office/drawing/2014/main" val="2000662739"/>
                    </a:ext>
                  </a:extLst>
                </a:gridCol>
                <a:gridCol w="956878">
                  <a:extLst>
                    <a:ext uri="{9D8B030D-6E8A-4147-A177-3AD203B41FA5}">
                      <a16:colId xmlns:a16="http://schemas.microsoft.com/office/drawing/2014/main" val="3779341321"/>
                    </a:ext>
                  </a:extLst>
                </a:gridCol>
                <a:gridCol w="956878">
                  <a:extLst>
                    <a:ext uri="{9D8B030D-6E8A-4147-A177-3AD203B41FA5}">
                      <a16:colId xmlns:a16="http://schemas.microsoft.com/office/drawing/2014/main" val="197568794"/>
                    </a:ext>
                  </a:extLst>
                </a:gridCol>
              </a:tblGrid>
              <a:tr h="139068">
                <a:tc>
                  <a:txBody>
                    <a:bodyPr/>
                    <a:lstStyle/>
                    <a:p>
                      <a:r>
                        <a:rPr lang="en-IN" sz="1020" dirty="0">
                          <a:latin typeface="Georgia" panose="02040502050405020303" pitchFamily="18" charset="0"/>
                        </a:rPr>
                        <a:t>Model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509359"/>
                  </a:ext>
                </a:extLst>
              </a:tr>
              <a:tr h="235346">
                <a:tc>
                  <a:txBody>
                    <a:bodyPr/>
                    <a:lstStyle/>
                    <a:p>
                      <a:r>
                        <a:rPr lang="en-IN" sz="1020" dirty="0">
                          <a:latin typeface="Georgia" panose="02040502050405020303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0.8962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0.9368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0.4605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594804"/>
                  </a:ext>
                </a:extLst>
              </a:tr>
              <a:tr h="235015">
                <a:tc>
                  <a:txBody>
                    <a:bodyPr/>
                    <a:lstStyle/>
                    <a:p>
                      <a:r>
                        <a:rPr lang="en-IN" sz="1020" dirty="0">
                          <a:latin typeface="Georgia" panose="02040502050405020303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0.8511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0.9121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0.5589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906898"/>
                  </a:ext>
                </a:extLst>
              </a:tr>
              <a:tr h="235346">
                <a:tc>
                  <a:txBody>
                    <a:bodyPr/>
                    <a:lstStyle/>
                    <a:p>
                      <a:r>
                        <a:rPr lang="en-IN" sz="1020" dirty="0">
                          <a:latin typeface="Georgia" panose="02040502050405020303" pitchFamily="18" charset="0"/>
                        </a:rPr>
                        <a:t>PCA-Logistic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0.8295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0.9386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0.3684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203734"/>
                  </a:ext>
                </a:extLst>
              </a:tr>
              <a:tr h="235346">
                <a:tc>
                  <a:txBody>
                    <a:bodyPr/>
                    <a:lstStyle/>
                    <a:p>
                      <a:r>
                        <a:rPr lang="en-IN" sz="1020" dirty="0">
                          <a:latin typeface="Georgia" panose="02040502050405020303" pitchFamily="18" charset="0"/>
                        </a:rPr>
                        <a:t>Cluster-Logistic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0.4738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0.8086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20" dirty="0">
                          <a:latin typeface="Georgia" panose="02040502050405020303" pitchFamily="18" charset="0"/>
                        </a:rPr>
                        <a:t>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046764"/>
                  </a:ext>
                </a:extLst>
              </a:tr>
            </a:tbl>
          </a:graphicData>
        </a:graphic>
      </p:graphicFrame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BEC855D5-935A-D5E5-FCCC-61AF25CCBF47}"/>
              </a:ext>
            </a:extLst>
          </p:cNvPr>
          <p:cNvPicPr>
            <a:picLocks noGrp="1" noChangeAspect="1"/>
          </p:cNvPicPr>
          <p:nvPr>
            <p:ph sz="quarter" idx="34"/>
          </p:nvPr>
        </p:nvPicPr>
        <p:blipFill>
          <a:blip r:embed="rId2"/>
          <a:stretch>
            <a:fillRect/>
          </a:stretch>
        </p:blipFill>
        <p:spPr>
          <a:xfrm>
            <a:off x="6119098" y="821356"/>
            <a:ext cx="2380786" cy="2274974"/>
          </a:xfr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4D6492A-4514-8CB5-1DC7-4DCDEE9620AC}"/>
              </a:ext>
            </a:extLst>
          </p:cNvPr>
          <p:cNvSpPr txBox="1">
            <a:spLocks/>
          </p:cNvSpPr>
          <p:nvPr/>
        </p:nvSpPr>
        <p:spPr>
          <a:xfrm>
            <a:off x="685800" y="3003798"/>
            <a:ext cx="8287735" cy="175627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3"/>
                </a:solidFill>
              </a:rPr>
              <a:t>Logistic Regression outperformed PCA- and Cluster-based models</a:t>
            </a:r>
            <a:r>
              <a:rPr lang="en-US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by directly leveraging individual behavioral predictors.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3"/>
                </a:solidFill>
              </a:rPr>
              <a:t>Sleep quality and physical activity </a:t>
            </a:r>
            <a:r>
              <a:rPr lang="en-US" sz="1000" dirty="0">
                <a:solidFill>
                  <a:schemeClr val="tx1"/>
                </a:solidFill>
              </a:rPr>
              <a:t>showed strong, linear associations with psychological distress.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200" dirty="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Random Forest had slightly higher specificity,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but logistic regression provided better overall performance.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Logistic Regression achieved high sensitivity (93.7%) with minimal model complexity.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The model offered strong interpretability, making it a robust and practical baseline for identifying high-risk individuals.</a:t>
            </a:r>
          </a:p>
        </p:txBody>
      </p:sp>
    </p:spTree>
    <p:extLst>
      <p:ext uri="{BB962C8B-B14F-4D97-AF65-F5344CB8AC3E}">
        <p14:creationId xmlns:p14="http://schemas.microsoft.com/office/powerpoint/2010/main" val="2720154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C926-F115-80F7-FF35-F195F2F3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99F22C-924D-7284-ED42-4B197F9C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14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99D6A-B3CF-FC79-CE94-CCD49C0E5C2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Group 5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C377D-F867-545D-29DB-1C41312F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RQ3: Interpretation &amp; Policy Implications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BDDB57C-D8CF-18AF-579D-C411FD92C793}"/>
              </a:ext>
            </a:extLst>
          </p:cNvPr>
          <p:cNvSpPr txBox="1">
            <a:spLocks/>
          </p:cNvSpPr>
          <p:nvPr/>
        </p:nvSpPr>
        <p:spPr>
          <a:xfrm>
            <a:off x="755576" y="1779662"/>
            <a:ext cx="8287735" cy="175627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u="sng" dirty="0">
                <a:solidFill>
                  <a:schemeClr val="tx1"/>
                </a:solidFill>
              </a:rPr>
              <a:t>Key Insights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Psychological distress is strongly linked to poor sleep quality, substance use, and low physical activity.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Principal component and regression analyses consistently identified sleep as the most influential behavioral factor, followed by smoking and physical inactivity.</a:t>
            </a:r>
          </a:p>
          <a:p>
            <a:pPr algn="l"/>
            <a:endParaRPr lang="en-US" sz="1200" dirty="0"/>
          </a:p>
          <a:p>
            <a:pPr algn="l"/>
            <a:r>
              <a:rPr lang="en-US" sz="1200" u="sng" dirty="0">
                <a:solidFill>
                  <a:schemeClr val="tx1"/>
                </a:solidFill>
              </a:rPr>
              <a:t>Cluster-Based Behavioral Targeting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K-means clustering revealed four distinct lifestyle profiles with significantly different distress levels.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These clusters offer an opportunity to tailor interventions:</a:t>
            </a:r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r>
              <a:rPr lang="en-US" sz="1200" u="sng" dirty="0">
                <a:solidFill>
                  <a:schemeClr val="tx1"/>
                </a:solidFill>
              </a:rPr>
              <a:t>Policy &amp; Screening Implications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Behavioral screening tools can be enhanced by incorporating lifestyle patterns, not just individual behaviors.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Public health efforts should prioritize sleep improvement and physical activity as cost-effective targets for reducing psychological distress.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Findings support a move toward personalized mental health strategies grounded in lifestyle segmentation.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6021EA-36F6-D59C-4067-6F94560B53C7}"/>
              </a:ext>
            </a:extLst>
          </p:cNvPr>
          <p:cNvSpPr txBox="1">
            <a:spLocks/>
          </p:cNvSpPr>
          <p:nvPr/>
        </p:nvSpPr>
        <p:spPr>
          <a:xfrm>
            <a:off x="971600" y="2499742"/>
            <a:ext cx="5688632" cy="75438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altLang="ko-KR" sz="1200" b="0" dirty="0">
                <a:solidFill>
                  <a:schemeClr val="tx1"/>
                </a:solidFill>
              </a:rPr>
              <a:t>Promote active lifestyles with sleep hygiene in low-risk groups.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altLang="ko-KR" sz="1200" b="0" dirty="0">
                <a:solidFill>
                  <a:schemeClr val="tx1"/>
                </a:solidFill>
              </a:rPr>
              <a:t>Prioritize substance use reduction and sleep interventions for high-risk clusters.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AD486B-D6B2-2D80-7E97-33E9D836204B}"/>
              </a:ext>
            </a:extLst>
          </p:cNvPr>
          <p:cNvSpPr/>
          <p:nvPr/>
        </p:nvSpPr>
        <p:spPr>
          <a:xfrm>
            <a:off x="734400" y="943200"/>
            <a:ext cx="1011288" cy="2016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82828B-4AE0-CC5D-1258-15AF1DF758B1}"/>
              </a:ext>
            </a:extLst>
          </p:cNvPr>
          <p:cNvSpPr/>
          <p:nvPr/>
        </p:nvSpPr>
        <p:spPr>
          <a:xfrm>
            <a:off x="734400" y="2008800"/>
            <a:ext cx="2829488" cy="2016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5B788F-A951-E326-AF32-6288B713588B}"/>
              </a:ext>
            </a:extLst>
          </p:cNvPr>
          <p:cNvSpPr/>
          <p:nvPr/>
        </p:nvSpPr>
        <p:spPr>
          <a:xfrm>
            <a:off x="734400" y="3341178"/>
            <a:ext cx="2541456" cy="2016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77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7CF55-309C-01D0-0CEA-4799C04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9BC16F-CB8F-27B9-4AF9-24AB0678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F4044-894B-B74C-BA70-A76DFBF02618}" type="slidenum">
              <a:rPr lang="en-US" smtClean="0"/>
              <a:pPr/>
              <a:t>15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AD54C-AD86-CBFE-8DBC-26876BDEFF0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03FBA-06DF-3C36-AD01-A274A59F75E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b="1" dirty="0"/>
              <a:t>Conclusion &amp; Limitations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345DCD5-ADF8-E68B-05CE-8C91F0E3BB9D}"/>
              </a:ext>
            </a:extLst>
          </p:cNvPr>
          <p:cNvSpPr txBox="1">
            <a:spLocks/>
          </p:cNvSpPr>
          <p:nvPr/>
        </p:nvSpPr>
        <p:spPr>
          <a:xfrm>
            <a:off x="743100" y="1707654"/>
            <a:ext cx="8287735" cy="175627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2000" b="1" i="0" kern="1200" baseline="0">
                <a:solidFill>
                  <a:srgbClr val="A71E23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Light" panose="020B0403020203020204" pitchFamily="34" charset="0"/>
                <a:ea typeface="+mn-ea"/>
                <a:cs typeface="+mn-cs"/>
              </a:defRPr>
            </a:lvl2pPr>
            <a:lvl3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900"/>
              </a:spcAft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3pPr>
            <a:lvl4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4pPr>
            <a:lvl5pPr marL="6350" indent="-6350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Effra Medium" panose="020B06030202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u="sng" dirty="0">
                <a:solidFill>
                  <a:schemeClr val="tx1"/>
                </a:solidFill>
              </a:rPr>
              <a:t>Conclusion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Prescription drugs, inpatient care, and office-based visits are top drivers of total healthcare cost </a:t>
            </a:r>
            <a:br>
              <a:rPr lang="en-US" sz="1200" b="0" dirty="0">
                <a:solidFill>
                  <a:schemeClr val="tx1"/>
                </a:solidFill>
              </a:rPr>
            </a:br>
            <a:r>
              <a:rPr lang="en-US" sz="1200" b="0" dirty="0">
                <a:solidFill>
                  <a:schemeClr val="tx1"/>
                </a:solidFill>
              </a:rPr>
              <a:t>— driven by both per-case expense and high frequency (RQ1).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Age and family size are key demographic predictors of chronic disease presence,</a:t>
            </a:r>
            <a:br>
              <a:rPr lang="en-US" sz="1200" b="0" dirty="0">
                <a:solidFill>
                  <a:schemeClr val="tx1"/>
                </a:solidFill>
              </a:rPr>
            </a:br>
            <a:r>
              <a:rPr lang="en-US" sz="1200" b="0" dirty="0">
                <a:solidFill>
                  <a:schemeClr val="tx1"/>
                </a:solidFill>
              </a:rPr>
              <a:t>supporting targeted early intervention (RQ2).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Lifestyle behaviors (sleep, alcohol, smoking, activity) are strongly linked to psychological distress;</a:t>
            </a:r>
            <a:br>
              <a:rPr lang="en-US" sz="1200" b="0" dirty="0">
                <a:solidFill>
                  <a:schemeClr val="tx1"/>
                </a:solidFill>
              </a:rPr>
            </a:br>
            <a:r>
              <a:rPr lang="en-US" sz="1200" b="0" dirty="0">
                <a:solidFill>
                  <a:schemeClr val="tx1"/>
                </a:solidFill>
              </a:rPr>
              <a:t>clustering revealed clear high-risk profiles (RQ3).</a:t>
            </a:r>
          </a:p>
          <a:p>
            <a:pPr algn="l"/>
            <a:endParaRPr lang="en-US" sz="1200" dirty="0"/>
          </a:p>
          <a:p>
            <a:pPr algn="l"/>
            <a:r>
              <a:rPr lang="en-US" sz="1200" u="sng" dirty="0">
                <a:solidFill>
                  <a:schemeClr val="tx1"/>
                </a:solidFill>
              </a:rPr>
              <a:t>Limitations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Based on self-reported survey data — possible recall and response bias.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Uses 2020 data only — reflects behaviors during COVID-19, not typical patterns.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Some variables simplified (e.g., race, K6 distress thresholds); may overlook deeper trends.</a:t>
            </a:r>
          </a:p>
          <a:p>
            <a:pPr algn="l"/>
            <a:endParaRPr lang="en-US" sz="1200" dirty="0"/>
          </a:p>
          <a:p>
            <a:pPr algn="l"/>
            <a:r>
              <a:rPr lang="en-US" sz="1200" u="sng" dirty="0">
                <a:solidFill>
                  <a:schemeClr val="tx1"/>
                </a:solidFill>
              </a:rPr>
              <a:t>Future Scope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Extend analysis using multi-year MEPS panels for trend analysis.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Integrate external data (e.g., claims, EHRs) for richer insights.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AED81-627A-38F6-25E6-AED601D03B80}"/>
              </a:ext>
            </a:extLst>
          </p:cNvPr>
          <p:cNvSpPr/>
          <p:nvPr/>
        </p:nvSpPr>
        <p:spPr>
          <a:xfrm>
            <a:off x="693124" y="892800"/>
            <a:ext cx="972000" cy="2016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50DBBA-D999-098A-394E-8A4EDD8FCF27}"/>
              </a:ext>
            </a:extLst>
          </p:cNvPr>
          <p:cNvSpPr/>
          <p:nvPr/>
        </p:nvSpPr>
        <p:spPr>
          <a:xfrm>
            <a:off x="703924" y="2548800"/>
            <a:ext cx="979200" cy="2016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00D79-9277-0302-478B-F84267E9DD8D}"/>
              </a:ext>
            </a:extLst>
          </p:cNvPr>
          <p:cNvSpPr/>
          <p:nvPr/>
        </p:nvSpPr>
        <p:spPr>
          <a:xfrm>
            <a:off x="703924" y="3657600"/>
            <a:ext cx="1119296" cy="2016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23603"/>
      </p:ext>
    </p:extLst>
  </p:cSld>
  <p:clrMapOvr>
    <a:masterClrMapping/>
  </p:clrMapOvr>
</p:sld>
</file>

<file path=ppt/theme/theme1.xml><?xml version="1.0" encoding="utf-8"?>
<a:theme xmlns:a="http://schemas.openxmlformats.org/drawingml/2006/main" name="Stony Brook Medicine">
  <a:themeElements>
    <a:clrScheme name="Custom SBM Theme">
      <a:dk1>
        <a:srgbClr val="000000"/>
      </a:dk1>
      <a:lt1>
        <a:srgbClr val="FFFFFF"/>
      </a:lt1>
      <a:dk2>
        <a:srgbClr val="BDBDBD"/>
      </a:dk2>
      <a:lt2>
        <a:srgbClr val="E7E6E6"/>
      </a:lt2>
      <a:accent1>
        <a:srgbClr val="39BEC9"/>
      </a:accent1>
      <a:accent2>
        <a:srgbClr val="BDCF9A"/>
      </a:accent2>
      <a:accent3>
        <a:srgbClr val="A70000"/>
      </a:accent3>
      <a:accent4>
        <a:srgbClr val="BDBEAF"/>
      </a:accent4>
      <a:accent5>
        <a:srgbClr val="005399"/>
      </a:accent5>
      <a:accent6>
        <a:srgbClr val="A70000"/>
      </a:accent6>
      <a:hlink>
        <a:srgbClr val="4A4B4A"/>
      </a:hlink>
      <a:folHlink>
        <a:srgbClr val="4A4B5F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BM2411_0267_Gradient_Widescreen_System_Fonts_PowerPoint_SBM_TEMPLATE" id="{7854258C-CDC5-2E4A-A32F-78548AEF2457}" vid="{EBFD73CF-C7FA-C448-B078-C3DD286102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Stony Brook Medicine</Template>
  <TotalTime>3289</TotalTime>
  <Words>1322</Words>
  <Application>Microsoft Macintosh PowerPoint</Application>
  <PresentationFormat>On-screen Show (16:9)</PresentationFormat>
  <Paragraphs>196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Effra</vt:lpstr>
      <vt:lpstr>Effra Light</vt:lpstr>
      <vt:lpstr>Effra Medium</vt:lpstr>
      <vt:lpstr>System Font Regular</vt:lpstr>
      <vt:lpstr>Arial</vt:lpstr>
      <vt:lpstr>Courier New</vt:lpstr>
      <vt:lpstr>Georgia</vt:lpstr>
      <vt:lpstr>Verdana</vt:lpstr>
      <vt:lpstr>Stony Brook Medicine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RQ1: Interpretation &amp; Policy Implication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Keun Young Yoon</dc:creator>
  <cp:lastModifiedBy>Junsung Rhee</cp:lastModifiedBy>
  <cp:revision>50</cp:revision>
  <cp:lastPrinted>2020-09-25T13:52:36Z</cp:lastPrinted>
  <dcterms:created xsi:type="dcterms:W3CDTF">2025-04-13T23:32:39Z</dcterms:created>
  <dcterms:modified xsi:type="dcterms:W3CDTF">2025-04-16T06:23:37Z</dcterms:modified>
</cp:coreProperties>
</file>